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(30s). Hi, I'm Natabar from IIT Kharagpur. My project is AIgnition — a tool that helps marketing agencies predict how much revenue their ad spend will generate, as a realistic RANGE rather than a single guess. Let me walk you through the problem, the solution, and a live demo. Total ~12-13 min, then Q&amp;A.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(90s). Marketing agencies get paid to answer one question: if a client spends X on ads, how much revenue comes back? Right now they answer it with spreadsheets and gut feel. Three pain points: data is fragmented across platforms, the work is manual and fragile, and forecasts don't explain WHY — so nobody trusts them. The honest version of the answer isn't a single number — it's a range with a confidence level. That's what we built.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(60s). AIgnition does four things. One — it forecasts revenue and ROAS as a probabilistic range for 30, 60, 90 days. Two — a budget simulator: drag spend up or down and see the effect, with realistic diminishing returns. Three — an AI layer that explains WHY the numbers are what they are. Four — the whole thing is engineered to be trustworthy: offline, deterministic, one command, automated tests. These map directly to the four judging criteria: technical soundness, practical relevance, AI integration, product thinking.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PIPELINE (75s). Four stages. INGEST: we read the three ad-platform CSVs and auto-detect which is which by looking at the columns — so a renamed file still works — and merge them into one clean table (25,562 rows in our sample). MODEL: a glass-box model, meaning every piece is visible and explainable, not a black box. SIMULATE: we run 4,000 possible futures and add them up into 30/60/90-day totals. EXPLAIN: plain math computes the drivers, the AI just writes them up nicely. And the whole thing runs with a single command, ./run.sh, completely offline.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(60s). The hard part of real marketing data is that it's fragmented. We take three different platform exports and normalise them into one table. Crucially we detect the platform by its column signature, not the filename — so when the judges drop in their own held-out test data, it just works. We also auto-classify every campaign into channel, type, and brand intent. And we stress-tested it against weird inputs — single platform, tiny history, all-zero data — it never crashes and never produces a broken file.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(90s). This is the heart of it, in plain terms. Revenue is driven by four forces. LEVEL is today's baseline. TREND is slow growth or decline — damped so a small uptick doesn't explode into a crazy 90-day number. SEASONALITY is weekly and holiday patterns; segments with little data borrow the shape from the whole population, which stabilises them. SPEND RESPONSE is the key business one — spending more brings more revenue, but with diminishing returns, like a crowded store. We chose a glass-box model on purpose: because the four forces are separate, we can tell the client WHY, which black-box ML can't. If they ask 'why not deep learning or XGBoost' — that's the answer: interpretability, which the brief explicitly asks for.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UNCERTAINTY (75s). Here's the philosophy in one picture. Instead of claiming 'you'll make exactly $200,000' — which is always wrong — we run 4,000 simulated futures and report the spread. The noise isn't naive randomness; it preserves real-world patterns and a shared market shock. For 30 days: most-likely $211,933, but honestly anywhere from $133K to $340K, ROAS around 3.3. And we calibrate the range so that when we say P10-P90, that band actually contains the truth about 80% of the time — verified, not assumed. That honesty is what makes it trustworthy for real budget decisions.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BUDGET SIMULATOR (60s). This is the tab that earns the agency a bigger retainer. The client asks 'what if you give me 20% more budget?' Normally that's a guess. Here you drag the slider and revenue updates live — and notice it curves instead of going straight up, because of diminishing returns. The killer metric is marginal ROAS: the return on the NEXT dollar, not the average of past dollars. When that drops below target, stop scaling. Most dashboards won't tell you that; ours does.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INSIGHTS (75s). This is where I want to be crystal clear, because panels often assume the LLM is doing the forecasting — it is NOT. All the actual numbers, the driver attribution, are computed by deterministic math from the model. The LLM's only job is to turn those correct numbers into readable prose — an executive summary, a ROAS watch-list, budget recommendations. It's constrained to the figures it's given so it can't hallucinate. And it degrades gracefully: no key or no internet, it uses an offline template — the insight is identical, just less flowery. It supports OpenAI, Gemini and Anthropic, auto-detected.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ENGINEERING (75s). This is the 'engineering quality' criterion, and it's also literally how the hackathon scores us: they clone the repo, drop in their own test data, run one command, and read our predictions. So we built exactly to that contract: one command, fully offline, deterministic — same output every time — no retraining, pinned dependencies, and it reads whatever data shape they give it. Output is null-free and in the exact required format. And 14 automated tests cover schema, coherence and robustness. I actually caught and fixed a real edge-case bug during final testing by feeding it truncated data — that's the level of rigor.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RESULTS (45s). On the sample data: most-likely revenue is 212K over 30 days, 448K over 60, 685K over 90 — each with an honest range and a blended ROAS around 3.3. The output is 1,404 rows, zero nulls, across all four hierarchy levels from the whole account down to individual campaigns. 14 of 14 tests pass. These are the numbers you'll see live in the demo in a moment.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IT WINS (45s). Quick map to your criteria. Technical soundness: a principled, calibrated probabilistic model, not a toy. Practical relevance: it answers the actual question agencies get paid for, with a simulator built for planning. AI integration: the LLM is used well — grounded, safe, with a fallback. Product thinking: a clean dashboard, honest ranges, plain explanations, one-command reproducibility. It's not a demo hack — it's an operationally real utility.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(3-4 min). Switch to the browser — the app is already running at localhost:8501. Walk the four tabs in order. Forecast: 'this is a range, not a guess' and drill down a level. Budget Simulator: drag a slider, point out the curve bending. AI Insights: click Generate, read one line of the briefing. Data tab: 'here's the raw data in, and the exact file out, zero nulls.' Keep it tight. If anything lags, keep talking — it's warmed up. Then go to the closing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(20s). To sum up: we take fragmented ad data and turn it into forecasts agencies can actually act on — probabilistic, explainable, offline, reproducible. One command, four honest answers. Thank you — I'd love to take your questions.</a:t>
            </a:r>
          </a:p>
          <a:p/>
          <a:p>
            <a:r>
              <a:t>--- LIKELY Q&amp;A ---</a:t>
            </a:r>
          </a:p>
          <a:p>
            <a:r>
              <a:t>Why not deep learning / XGBoost? Interpretability — the brief asks forecasts to explain WHY; a glass-box model does, a black box doesn't. Also small data per segment.</a:t>
            </a:r>
          </a:p>
          <a:p>
            <a:r>
              <a:t>How do you handle uncertainty? Monte Carlo + split-conformal calibration — the range is verified against real coverage, not assumed.</a:t>
            </a:r>
          </a:p>
          <a:p>
            <a:r>
              <a:t>What does the LLM actually do? Only narrates already-computed numbers; forecast never depends on it; offline fallback.</a:t>
            </a:r>
          </a:p>
          <a:p>
            <a:r>
              <a:t>Is it production-ready? Offline, deterministic, one command, 14 tests, robust to unseen data — I even found &amp; fixed a real edge-case bug in final testing.</a:t>
            </a:r>
          </a:p>
          <a:p>
            <a:r>
              <a:t>If I don't know an answer: 'Great question — at a high level it's [plain version]; I can follow up with the exact detail.' Honesty beats bluffing.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60520"/>
            <a:ext cx="12191695" cy="50800"/>
          </a:xfrm>
          <a:prstGeom prst="rect">
            <a:avLst/>
          </a:prstGeom>
          <a:solidFill>
            <a:srgbClr val="FF6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10515600" cy="457200"/>
          </a:xfrm>
          <a:prstGeom prst="rect">
            <a:avLst/>
          </a:prstGeom>
          <a:noFill/>
        </p:spPr>
        <p:txBody>
          <a:bodyPr wrap="square" anchor="t">
            <a:spAutoFit/>
          </a:bodyPr>
          <a:lstStyle/>
          <a:p>
            <a:pPr algn="l">
              <a:lnSpc>
                <a:spcPct val="105000"/>
              </a:lnSpc>
              <a:spcAft>
                <a:spcPts val="600"/>
              </a:spcAft>
            </a:pPr>
            <a:r>
              <a:rPr sz="1600" b="1">
                <a:solidFill>
                  <a:srgbClr val="FF6A13"/>
                </a:solidFill>
                <a:latin typeface="Calibri"/>
              </a:rPr>
              <a:t>NETELIXIR  AIGNITION 3.0</a:t>
            </a:r>
          </a:p>
        </p:txBody>
      </p:sp>
      <p:sp>
        <p:nvSpPr>
          <p:cNvPr id="5" name="TextBox 4"/>
          <p:cNvSpPr txBox="1"/>
          <p:nvPr/>
        </p:nvSpPr>
        <p:spPr>
          <a:xfrm>
            <a:off x="822960" y="1965960"/>
            <a:ext cx="10607040" cy="1645920"/>
          </a:xfrm>
          <a:prstGeom prst="rect">
            <a:avLst/>
          </a:prstGeom>
          <a:noFill/>
        </p:spPr>
        <p:txBody>
          <a:bodyPr wrap="square" anchor="t">
            <a:spAutoFit/>
          </a:bodyPr>
          <a:lstStyle/>
          <a:p>
            <a:pPr algn="l">
              <a:lnSpc>
                <a:spcPct val="100000"/>
              </a:lnSpc>
              <a:spcAft>
                <a:spcPts val="600"/>
              </a:spcAft>
            </a:pPr>
            <a:r>
              <a:rPr sz="4400" b="1">
                <a:solidFill>
                  <a:srgbClr val="FFFFFF"/>
                </a:solidFill>
                <a:latin typeface="Calibri"/>
              </a:rPr>
              <a:t>Probabilistic Revenue Forecasting</a:t>
            </a:r>
          </a:p>
          <a:p>
            <a:pPr algn="l">
              <a:lnSpc>
                <a:spcPct val="100000"/>
              </a:lnSpc>
              <a:spcAft>
                <a:spcPts val="600"/>
              </a:spcAft>
            </a:pPr>
            <a:r>
              <a:rPr sz="4400" b="1">
                <a:solidFill>
                  <a:srgbClr val="FFFFFF"/>
                </a:solidFill>
                <a:latin typeface="Calibri"/>
              </a:rPr>
              <a:t>for E-commerce Marketing</a:t>
            </a:r>
          </a:p>
        </p:txBody>
      </p:sp>
      <p:sp>
        <p:nvSpPr>
          <p:cNvPr id="6" name="TextBox 5"/>
          <p:cNvSpPr txBox="1"/>
          <p:nvPr/>
        </p:nvSpPr>
        <p:spPr>
          <a:xfrm>
            <a:off x="822960" y="4343400"/>
            <a:ext cx="10607040" cy="1097280"/>
          </a:xfrm>
          <a:prstGeom prst="rect">
            <a:avLst/>
          </a:prstGeom>
          <a:noFill/>
        </p:spPr>
        <p:txBody>
          <a:bodyPr wrap="square" anchor="t">
            <a:spAutoFit/>
          </a:bodyPr>
          <a:lstStyle/>
          <a:p>
            <a:pPr algn="l">
              <a:lnSpc>
                <a:spcPct val="110000"/>
              </a:lnSpc>
              <a:spcAft>
                <a:spcPts val="600"/>
              </a:spcAft>
            </a:pPr>
            <a:r>
              <a:rPr sz="1800" b="0">
                <a:solidFill>
                  <a:srgbClr val="CBD5E1"/>
                </a:solidFill>
                <a:latin typeface="Calibri"/>
              </a:rPr>
              <a:t>An AI-assisted forecasting utility that turns fragmented Google, Meta &amp; Bing Ads</a:t>
            </a:r>
          </a:p>
          <a:p>
            <a:pPr algn="l">
              <a:lnSpc>
                <a:spcPct val="110000"/>
              </a:lnSpc>
              <a:spcAft>
                <a:spcPts val="600"/>
              </a:spcAft>
            </a:pPr>
            <a:r>
              <a:rPr sz="1800" b="0">
                <a:solidFill>
                  <a:srgbClr val="CBD5E1"/>
                </a:solidFill>
                <a:latin typeface="Calibri"/>
              </a:rPr>
              <a:t>data into probabilistic revenue and ROAS forecasts agencies can act on.</a:t>
            </a:r>
          </a:p>
        </p:txBody>
      </p:sp>
      <p:sp>
        <p:nvSpPr>
          <p:cNvPr id="7" name="TextBox 6"/>
          <p:cNvSpPr txBox="1"/>
          <p:nvPr/>
        </p:nvSpPr>
        <p:spPr>
          <a:xfrm>
            <a:off x="822960" y="5715000"/>
            <a:ext cx="10607040" cy="822960"/>
          </a:xfrm>
          <a:prstGeom prst="rect">
            <a:avLst/>
          </a:prstGeom>
          <a:noFill/>
        </p:spPr>
        <p:txBody>
          <a:bodyPr wrap="square" anchor="t">
            <a:spAutoFit/>
          </a:bodyPr>
          <a:lstStyle/>
          <a:p>
            <a:pPr algn="l">
              <a:lnSpc>
                <a:spcPct val="105000"/>
              </a:lnSpc>
              <a:spcAft>
                <a:spcPts val="600"/>
              </a:spcAft>
            </a:pPr>
            <a:r>
              <a:rPr sz="1600" b="1">
                <a:solidFill>
                  <a:srgbClr val="FFFFFF"/>
                </a:solidFill>
                <a:latin typeface="Calibri"/>
              </a:rPr>
              <a:t>Natabar Pradhan   •   Indian Institute of Technology, Kharagpur</a:t>
            </a:r>
          </a:p>
          <a:p>
            <a:pPr algn="l">
              <a:lnSpc>
                <a:spcPct val="105000"/>
              </a:lnSpc>
              <a:spcAft>
                <a:spcPts val="600"/>
              </a:spcAft>
            </a:pPr>
            <a:r>
              <a:rPr sz="1300" b="0">
                <a:solidFill>
                  <a:srgbClr val="64748B"/>
                </a:solidFill>
                <a:latin typeface="Calibri"/>
              </a:rPr>
              <a:t>github.com/Programver/probabilistic-forecasting-model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50800"/>
          </a:xfrm>
          <a:prstGeom prst="rect">
            <a:avLst/>
          </a:prstGeom>
          <a:solidFill>
            <a:srgbClr val="FF6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10972800" cy="365760"/>
          </a:xfrm>
          <a:prstGeom prst="rect">
            <a:avLst/>
          </a:prstGeom>
          <a:noFill/>
        </p:spPr>
        <p:txBody>
          <a:bodyPr wrap="square" anchor="t">
            <a:spAutoFit/>
          </a:bodyPr>
          <a:lstStyle/>
          <a:p>
            <a:pPr algn="l">
              <a:lnSpc>
                <a:spcPct val="105000"/>
              </a:lnSpc>
              <a:spcAft>
                <a:spcPts val="600"/>
              </a:spcAft>
            </a:pPr>
            <a:r>
              <a:rPr sz="1200" b="1">
                <a:solidFill>
                  <a:srgbClr val="FF6A13"/>
                </a:solidFill>
                <a:latin typeface="Calibri"/>
              </a:rPr>
              <a:t>THE PROBLEM</a:t>
            </a:r>
          </a:p>
        </p:txBody>
      </p:sp>
      <p:sp>
        <p:nvSpPr>
          <p:cNvPr id="5" name="TextBox 4"/>
          <p:cNvSpPr txBox="1"/>
          <p:nvPr/>
        </p:nvSpPr>
        <p:spPr>
          <a:xfrm>
            <a:off x="548640" y="475488"/>
            <a:ext cx="11064240" cy="685800"/>
          </a:xfrm>
          <a:prstGeom prst="rect">
            <a:avLst/>
          </a:prstGeom>
          <a:noFill/>
        </p:spPr>
        <p:txBody>
          <a:bodyPr wrap="square" anchor="t">
            <a:spAutoFit/>
          </a:bodyPr>
          <a:lstStyle/>
          <a:p>
            <a:pPr algn="l">
              <a:lnSpc>
                <a:spcPct val="105000"/>
              </a:lnSpc>
              <a:spcAft>
                <a:spcPts val="600"/>
              </a:spcAft>
            </a:pPr>
            <a:r>
              <a:rPr sz="2800" b="1">
                <a:solidFill>
                  <a:srgbClr val="FFFFFF"/>
                </a:solidFill>
                <a:latin typeface="Calibri"/>
              </a:rPr>
              <a:t>Agencies decide budgets on gut feel and spreadsheets</a:t>
            </a:r>
          </a:p>
        </p:txBody>
      </p:sp>
      <p:sp>
        <p:nvSpPr>
          <p:cNvPr id="6" name="TextBox 5"/>
          <p:cNvSpPr txBox="1"/>
          <p:nvPr/>
        </p:nvSpPr>
        <p:spPr>
          <a:xfrm>
            <a:off x="548640" y="1600200"/>
            <a:ext cx="6583680" cy="4389120"/>
          </a:xfrm>
          <a:prstGeom prst="rect">
            <a:avLst/>
          </a:prstGeom>
          <a:noFill/>
        </p:spPr>
        <p:txBody>
          <a:bodyPr wrap="square">
            <a:spAutoFit/>
          </a:bodyPr>
          <a:lstStyle/>
          <a:p>
            <a:pPr>
              <a:lnSpc>
                <a:spcPct val="108000"/>
              </a:lnSpc>
              <a:spcAft>
                <a:spcPts val="1600"/>
              </a:spcAft>
            </a:pPr>
            <a:r>
              <a:rPr sz="1800" b="1">
                <a:solidFill>
                  <a:srgbClr val="FF6A13"/>
                </a:solidFill>
                <a:latin typeface="Calibri"/>
              </a:rPr>
              <a:t>•  </a:t>
            </a:r>
            <a:r>
              <a:rPr sz="1800" b="1">
                <a:solidFill>
                  <a:srgbClr val="334155"/>
                </a:solidFill>
                <a:latin typeface="Calibri"/>
              </a:rPr>
              <a:t>E-commerce brands spend across many channels </a:t>
            </a:r>
            <a:r>
              <a:rPr sz="1800" b="0">
                <a:solidFill>
                  <a:srgbClr val="334155"/>
                </a:solidFill>
                <a:latin typeface="Calibri"/>
              </a:rPr>
              <a:t>— Google, Meta, Microsoft (Bing) Ads — and agencies must estimate outcomes BEFORE the money is spent.</a:t>
            </a:r>
          </a:p>
          <a:p>
            <a:pPr>
              <a:lnSpc>
                <a:spcPct val="108000"/>
              </a:lnSpc>
              <a:spcAft>
                <a:spcPts val="1600"/>
              </a:spcAft>
            </a:pPr>
            <a:r>
              <a:rPr sz="1800" b="1">
                <a:solidFill>
                  <a:srgbClr val="FF6A13"/>
                </a:solidFill>
                <a:latin typeface="Calibri"/>
              </a:rPr>
              <a:t>•  </a:t>
            </a:r>
            <a:r>
              <a:rPr sz="1800" b="1">
                <a:solidFill>
                  <a:srgbClr val="334155"/>
                </a:solidFill>
                <a:latin typeface="Calibri"/>
              </a:rPr>
              <a:t>The data is fragmented </a:t>
            </a:r>
            <a:r>
              <a:rPr sz="1800" b="0">
                <a:solidFill>
                  <a:srgbClr val="334155"/>
                </a:solidFill>
                <a:latin typeface="Calibri"/>
              </a:rPr>
              <a:t>— every platform exports a different format, campaigns are tagged inconsistently, reporting is incomplete.</a:t>
            </a:r>
          </a:p>
          <a:p>
            <a:pPr>
              <a:lnSpc>
                <a:spcPct val="108000"/>
              </a:lnSpc>
              <a:spcAft>
                <a:spcPts val="1600"/>
              </a:spcAft>
            </a:pPr>
            <a:r>
              <a:rPr sz="1800" b="1">
                <a:solidFill>
                  <a:srgbClr val="FF6A13"/>
                </a:solidFill>
                <a:latin typeface="Calibri"/>
              </a:rPr>
              <a:t>•  </a:t>
            </a:r>
            <a:r>
              <a:rPr sz="1800" b="1">
                <a:solidFill>
                  <a:srgbClr val="334155"/>
                </a:solidFill>
                <a:latin typeface="Calibri"/>
              </a:rPr>
              <a:t>Today's workflows are spreadsheet-driven </a:t>
            </a:r>
            <a:r>
              <a:rPr sz="1800" b="0">
                <a:solidFill>
                  <a:srgbClr val="334155"/>
                </a:solidFill>
                <a:latin typeface="Calibri"/>
              </a:rPr>
              <a:t>— manually maintained, disconnected across platforms, and fragile.</a:t>
            </a:r>
          </a:p>
          <a:p>
            <a:pPr>
              <a:lnSpc>
                <a:spcPct val="108000"/>
              </a:lnSpc>
              <a:spcAft>
                <a:spcPts val="1600"/>
              </a:spcAft>
            </a:pPr>
            <a:r>
              <a:rPr sz="1800" b="1">
                <a:solidFill>
                  <a:srgbClr val="FF6A13"/>
                </a:solidFill>
                <a:latin typeface="Calibri"/>
              </a:rPr>
              <a:t>•  </a:t>
            </a:r>
            <a:r>
              <a:rPr sz="1800" b="1">
                <a:solidFill>
                  <a:srgbClr val="334155"/>
                </a:solidFill>
                <a:latin typeface="Calibri"/>
              </a:rPr>
              <a:t>Forecasts rarely explain WHY </a:t>
            </a:r>
            <a:r>
              <a:rPr sz="1800" b="0">
                <a:solidFill>
                  <a:srgbClr val="334155"/>
                </a:solidFill>
                <a:latin typeface="Calibri"/>
              </a:rPr>
              <a:t>performance will rise or fall — so they're hard to trust or act on.</a:t>
            </a:r>
          </a:p>
        </p:txBody>
      </p:sp>
      <p:sp>
        <p:nvSpPr>
          <p:cNvPr id="7" name="Rectangle 6"/>
          <p:cNvSpPr/>
          <p:nvPr/>
        </p:nvSpPr>
        <p:spPr>
          <a:xfrm>
            <a:off x="7406640" y="1737360"/>
            <a:ext cx="4206240" cy="3977639"/>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2011680"/>
            <a:ext cx="3657600" cy="457200"/>
          </a:xfrm>
          <a:prstGeom prst="rect">
            <a:avLst/>
          </a:prstGeom>
          <a:noFill/>
        </p:spPr>
        <p:txBody>
          <a:bodyPr wrap="square" anchor="t">
            <a:spAutoFit/>
          </a:bodyPr>
          <a:lstStyle/>
          <a:p>
            <a:pPr algn="l">
              <a:lnSpc>
                <a:spcPct val="105000"/>
              </a:lnSpc>
              <a:spcAft>
                <a:spcPts val="600"/>
              </a:spcAft>
            </a:pPr>
            <a:r>
              <a:rPr sz="1300" b="1">
                <a:solidFill>
                  <a:srgbClr val="FF6A13"/>
                </a:solidFill>
                <a:latin typeface="Calibri"/>
              </a:rPr>
              <a:t>THE CORE QUESTION</a:t>
            </a:r>
          </a:p>
        </p:txBody>
      </p:sp>
      <p:sp>
        <p:nvSpPr>
          <p:cNvPr id="9" name="TextBox 8"/>
          <p:cNvSpPr txBox="1"/>
          <p:nvPr/>
        </p:nvSpPr>
        <p:spPr>
          <a:xfrm>
            <a:off x="7680960" y="2514600"/>
            <a:ext cx="3657600" cy="1828800"/>
          </a:xfrm>
          <a:prstGeom prst="rect">
            <a:avLst/>
          </a:prstGeom>
          <a:noFill/>
        </p:spPr>
        <p:txBody>
          <a:bodyPr wrap="square" anchor="t">
            <a:spAutoFit/>
          </a:bodyPr>
          <a:lstStyle/>
          <a:p>
            <a:pPr algn="l">
              <a:lnSpc>
                <a:spcPct val="110000"/>
              </a:lnSpc>
              <a:spcAft>
                <a:spcPts val="600"/>
              </a:spcAft>
            </a:pPr>
            <a:r>
              <a:rPr sz="2200" b="1">
                <a:solidFill>
                  <a:srgbClr val="0F172A"/>
                </a:solidFill>
                <a:latin typeface="Calibri"/>
              </a:rPr>
              <a:t>“If I spend $X next month,</a:t>
            </a:r>
          </a:p>
          <a:p>
            <a:pPr algn="l">
              <a:lnSpc>
                <a:spcPct val="110000"/>
              </a:lnSpc>
              <a:spcAft>
                <a:spcPts val="600"/>
              </a:spcAft>
            </a:pPr>
            <a:r>
              <a:rPr sz="2200" b="1">
                <a:solidFill>
                  <a:srgbClr val="0F172A"/>
                </a:solidFill>
                <a:latin typeface="Calibri"/>
              </a:rPr>
              <a:t>how much revenue will I</a:t>
            </a:r>
          </a:p>
          <a:p>
            <a:pPr algn="l">
              <a:lnSpc>
                <a:spcPct val="110000"/>
              </a:lnSpc>
              <a:spcAft>
                <a:spcPts val="600"/>
              </a:spcAft>
            </a:pPr>
            <a:r>
              <a:rPr sz="2200" b="1">
                <a:solidFill>
                  <a:srgbClr val="0F172A"/>
                </a:solidFill>
                <a:latin typeface="Calibri"/>
              </a:rPr>
              <a:t>get back — and how sure</a:t>
            </a:r>
          </a:p>
          <a:p>
            <a:pPr algn="l">
              <a:lnSpc>
                <a:spcPct val="110000"/>
              </a:lnSpc>
              <a:spcAft>
                <a:spcPts val="600"/>
              </a:spcAft>
            </a:pPr>
            <a:r>
              <a:rPr sz="2200" b="1">
                <a:solidFill>
                  <a:srgbClr val="0F172A"/>
                </a:solidFill>
                <a:latin typeface="Calibri"/>
              </a:rPr>
              <a:t>are you?”</a:t>
            </a:r>
          </a:p>
        </p:txBody>
      </p:sp>
      <p:sp>
        <p:nvSpPr>
          <p:cNvPr id="10" name="TextBox 9"/>
          <p:cNvSpPr txBox="1"/>
          <p:nvPr/>
        </p:nvSpPr>
        <p:spPr>
          <a:xfrm>
            <a:off x="7680960" y="4892040"/>
            <a:ext cx="3657600" cy="731520"/>
          </a:xfrm>
          <a:prstGeom prst="rect">
            <a:avLst/>
          </a:prstGeom>
          <a:noFill/>
        </p:spPr>
        <p:txBody>
          <a:bodyPr wrap="square" anchor="t">
            <a:spAutoFit/>
          </a:bodyPr>
          <a:lstStyle/>
          <a:p>
            <a:pPr algn="l">
              <a:lnSpc>
                <a:spcPct val="105000"/>
              </a:lnSpc>
              <a:spcAft>
                <a:spcPts val="600"/>
              </a:spcAft>
            </a:pPr>
            <a:r>
              <a:rPr sz="1500" b="0">
                <a:solidFill>
                  <a:srgbClr val="334155"/>
                </a:solidFill>
                <a:latin typeface="Calibri"/>
              </a:rPr>
              <a:t>Every agency's client asks this.</a:t>
            </a:r>
          </a:p>
          <a:p>
            <a:pPr algn="l">
              <a:lnSpc>
                <a:spcPct val="105000"/>
              </a:lnSpc>
              <a:spcAft>
                <a:spcPts val="600"/>
              </a:spcAft>
            </a:pPr>
            <a:r>
              <a:rPr sz="1500" b="0">
                <a:solidFill>
                  <a:srgbClr val="334155"/>
                </a:solidFill>
                <a:latin typeface="Calibri"/>
              </a:rPr>
              <a:t>Most tools can't answer it honestly.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50800"/>
          </a:xfrm>
          <a:prstGeom prst="rect">
            <a:avLst/>
          </a:prstGeom>
          <a:solidFill>
            <a:srgbClr val="FF6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10972800" cy="365760"/>
          </a:xfrm>
          <a:prstGeom prst="rect">
            <a:avLst/>
          </a:prstGeom>
          <a:noFill/>
        </p:spPr>
        <p:txBody>
          <a:bodyPr wrap="square" anchor="t">
            <a:spAutoFit/>
          </a:bodyPr>
          <a:lstStyle/>
          <a:p>
            <a:pPr algn="l">
              <a:lnSpc>
                <a:spcPct val="105000"/>
              </a:lnSpc>
              <a:spcAft>
                <a:spcPts val="600"/>
              </a:spcAft>
            </a:pPr>
            <a:r>
              <a:rPr sz="1200" b="1">
                <a:solidFill>
                  <a:srgbClr val="FF6A13"/>
                </a:solidFill>
                <a:latin typeface="Calibri"/>
              </a:rPr>
              <a:t>OUR SOLUTION</a:t>
            </a:r>
          </a:p>
        </p:txBody>
      </p:sp>
      <p:sp>
        <p:nvSpPr>
          <p:cNvPr id="5" name="TextBox 4"/>
          <p:cNvSpPr txBox="1"/>
          <p:nvPr/>
        </p:nvSpPr>
        <p:spPr>
          <a:xfrm>
            <a:off x="548640" y="475488"/>
            <a:ext cx="11064240" cy="685800"/>
          </a:xfrm>
          <a:prstGeom prst="rect">
            <a:avLst/>
          </a:prstGeom>
          <a:noFill/>
        </p:spPr>
        <p:txBody>
          <a:bodyPr wrap="square" anchor="t">
            <a:spAutoFit/>
          </a:bodyPr>
          <a:lstStyle/>
          <a:p>
            <a:pPr algn="l">
              <a:lnSpc>
                <a:spcPct val="105000"/>
              </a:lnSpc>
              <a:spcAft>
                <a:spcPts val="600"/>
              </a:spcAft>
            </a:pPr>
            <a:r>
              <a:rPr sz="2800" b="1">
                <a:solidFill>
                  <a:srgbClr val="FFFFFF"/>
                </a:solidFill>
                <a:latin typeface="Calibri"/>
              </a:rPr>
              <a:t>One tool, four things an agency actually needs</a:t>
            </a:r>
          </a:p>
        </p:txBody>
      </p:sp>
      <p:sp>
        <p:nvSpPr>
          <p:cNvPr id="6" name="Rectangle 5"/>
          <p:cNvSpPr/>
          <p:nvPr/>
        </p:nvSpPr>
        <p:spPr>
          <a:xfrm>
            <a:off x="548640" y="1691640"/>
            <a:ext cx="2743200" cy="40233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91640"/>
            <a:ext cx="2743200" cy="109728"/>
          </a:xfrm>
          <a:prstGeom prst="rect">
            <a:avLst/>
          </a:prstGeom>
          <a:solidFill>
            <a:srgbClr val="FF6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965960"/>
            <a:ext cx="2286000" cy="640080"/>
          </a:xfrm>
          <a:prstGeom prst="rect">
            <a:avLst/>
          </a:prstGeom>
          <a:noFill/>
        </p:spPr>
        <p:txBody>
          <a:bodyPr wrap="square" anchor="t">
            <a:spAutoFit/>
          </a:bodyPr>
          <a:lstStyle/>
          <a:p>
            <a:pPr algn="l">
              <a:lnSpc>
                <a:spcPct val="105000"/>
              </a:lnSpc>
              <a:spcAft>
                <a:spcPts val="600"/>
              </a:spcAft>
            </a:pPr>
            <a:r>
              <a:rPr sz="3000" b="1">
                <a:solidFill>
                  <a:srgbClr val="FF6A13"/>
                </a:solidFill>
                <a:latin typeface="Calibri"/>
              </a:rPr>
              <a:t>01</a:t>
            </a:r>
          </a:p>
        </p:txBody>
      </p:sp>
      <p:sp>
        <p:nvSpPr>
          <p:cNvPr id="9" name="TextBox 8"/>
          <p:cNvSpPr txBox="1"/>
          <p:nvPr/>
        </p:nvSpPr>
        <p:spPr>
          <a:xfrm>
            <a:off x="777240" y="2651760"/>
            <a:ext cx="2286000" cy="457200"/>
          </a:xfrm>
          <a:prstGeom prst="rect">
            <a:avLst/>
          </a:prstGeom>
          <a:noFill/>
        </p:spPr>
        <p:txBody>
          <a:bodyPr wrap="square" anchor="t">
            <a:spAutoFit/>
          </a:bodyPr>
          <a:lstStyle/>
          <a:p>
            <a:pPr algn="l">
              <a:lnSpc>
                <a:spcPct val="105000"/>
              </a:lnSpc>
              <a:spcAft>
                <a:spcPts val="600"/>
              </a:spcAft>
            </a:pPr>
            <a:r>
              <a:rPr sz="1800" b="1">
                <a:solidFill>
                  <a:srgbClr val="0F172A"/>
                </a:solidFill>
                <a:latin typeface="Calibri"/>
              </a:rPr>
              <a:t>FORECAST</a:t>
            </a:r>
          </a:p>
        </p:txBody>
      </p:sp>
      <p:sp>
        <p:nvSpPr>
          <p:cNvPr id="10" name="TextBox 9"/>
          <p:cNvSpPr txBox="1"/>
          <p:nvPr/>
        </p:nvSpPr>
        <p:spPr>
          <a:xfrm>
            <a:off x="777240" y="3154680"/>
            <a:ext cx="2286000" cy="2377440"/>
          </a:xfrm>
          <a:prstGeom prst="rect">
            <a:avLst/>
          </a:prstGeom>
          <a:noFill/>
        </p:spPr>
        <p:txBody>
          <a:bodyPr wrap="square" anchor="t">
            <a:spAutoFit/>
          </a:bodyPr>
          <a:lstStyle/>
          <a:p>
            <a:pPr algn="l">
              <a:lnSpc>
                <a:spcPct val="115000"/>
              </a:lnSpc>
              <a:spcAft>
                <a:spcPts val="600"/>
              </a:spcAft>
            </a:pPr>
            <a:r>
              <a:rPr sz="1500" b="0">
                <a:solidFill>
                  <a:srgbClr val="334155"/>
                </a:solidFill>
                <a:latin typeface="Calibri"/>
              </a:rPr>
              <a:t>Probabilistic revenue &amp; ROAS for 30 / 60 / 90 days — a range, not a single number.</a:t>
            </a:r>
          </a:p>
        </p:txBody>
      </p:sp>
      <p:sp>
        <p:nvSpPr>
          <p:cNvPr id="11" name="Rectangle 10"/>
          <p:cNvSpPr/>
          <p:nvPr/>
        </p:nvSpPr>
        <p:spPr>
          <a:xfrm>
            <a:off x="3410712" y="1691640"/>
            <a:ext cx="2743200" cy="40233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10712" y="1691640"/>
            <a:ext cx="2743200" cy="109728"/>
          </a:xfrm>
          <a:prstGeom prst="rect">
            <a:avLst/>
          </a:prstGeom>
          <a:solidFill>
            <a:srgbClr val="FF6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9312" y="1965960"/>
            <a:ext cx="2286000" cy="640080"/>
          </a:xfrm>
          <a:prstGeom prst="rect">
            <a:avLst/>
          </a:prstGeom>
          <a:noFill/>
        </p:spPr>
        <p:txBody>
          <a:bodyPr wrap="square" anchor="t">
            <a:spAutoFit/>
          </a:bodyPr>
          <a:lstStyle/>
          <a:p>
            <a:pPr algn="l">
              <a:lnSpc>
                <a:spcPct val="105000"/>
              </a:lnSpc>
              <a:spcAft>
                <a:spcPts val="600"/>
              </a:spcAft>
            </a:pPr>
            <a:r>
              <a:rPr sz="3000" b="1">
                <a:solidFill>
                  <a:srgbClr val="FF6A13"/>
                </a:solidFill>
                <a:latin typeface="Calibri"/>
              </a:rPr>
              <a:t>02</a:t>
            </a:r>
          </a:p>
        </p:txBody>
      </p:sp>
      <p:sp>
        <p:nvSpPr>
          <p:cNvPr id="14" name="TextBox 13"/>
          <p:cNvSpPr txBox="1"/>
          <p:nvPr/>
        </p:nvSpPr>
        <p:spPr>
          <a:xfrm>
            <a:off x="3639312" y="2651760"/>
            <a:ext cx="2286000" cy="457200"/>
          </a:xfrm>
          <a:prstGeom prst="rect">
            <a:avLst/>
          </a:prstGeom>
          <a:noFill/>
        </p:spPr>
        <p:txBody>
          <a:bodyPr wrap="square" anchor="t">
            <a:spAutoFit/>
          </a:bodyPr>
          <a:lstStyle/>
          <a:p>
            <a:pPr algn="l">
              <a:lnSpc>
                <a:spcPct val="105000"/>
              </a:lnSpc>
              <a:spcAft>
                <a:spcPts val="600"/>
              </a:spcAft>
            </a:pPr>
            <a:r>
              <a:rPr sz="1800" b="1">
                <a:solidFill>
                  <a:srgbClr val="0F172A"/>
                </a:solidFill>
                <a:latin typeface="Calibri"/>
              </a:rPr>
              <a:t>SIMULATE</a:t>
            </a:r>
          </a:p>
        </p:txBody>
      </p:sp>
      <p:sp>
        <p:nvSpPr>
          <p:cNvPr id="15" name="TextBox 14"/>
          <p:cNvSpPr txBox="1"/>
          <p:nvPr/>
        </p:nvSpPr>
        <p:spPr>
          <a:xfrm>
            <a:off x="3639312" y="3154680"/>
            <a:ext cx="2286000" cy="2377440"/>
          </a:xfrm>
          <a:prstGeom prst="rect">
            <a:avLst/>
          </a:prstGeom>
          <a:noFill/>
        </p:spPr>
        <p:txBody>
          <a:bodyPr wrap="square" anchor="t">
            <a:spAutoFit/>
          </a:bodyPr>
          <a:lstStyle/>
          <a:p>
            <a:pPr algn="l">
              <a:lnSpc>
                <a:spcPct val="115000"/>
              </a:lnSpc>
              <a:spcAft>
                <a:spcPts val="600"/>
              </a:spcAft>
            </a:pPr>
            <a:r>
              <a:rPr sz="1500" b="0">
                <a:solidFill>
                  <a:srgbClr val="334155"/>
                </a:solidFill>
                <a:latin typeface="Calibri"/>
              </a:rPr>
              <a:t>“What if I spend 20% more?” — models diminishing returns on every extra dollar.</a:t>
            </a:r>
          </a:p>
        </p:txBody>
      </p:sp>
      <p:sp>
        <p:nvSpPr>
          <p:cNvPr id="16" name="Rectangle 15"/>
          <p:cNvSpPr/>
          <p:nvPr/>
        </p:nvSpPr>
        <p:spPr>
          <a:xfrm>
            <a:off x="6272784" y="1691640"/>
            <a:ext cx="2743200" cy="40233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72784" y="1691640"/>
            <a:ext cx="2743200" cy="109728"/>
          </a:xfrm>
          <a:prstGeom prst="rect">
            <a:avLst/>
          </a:prstGeom>
          <a:solidFill>
            <a:srgbClr val="FF6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01384" y="1965960"/>
            <a:ext cx="2286000" cy="640080"/>
          </a:xfrm>
          <a:prstGeom prst="rect">
            <a:avLst/>
          </a:prstGeom>
          <a:noFill/>
        </p:spPr>
        <p:txBody>
          <a:bodyPr wrap="square" anchor="t">
            <a:spAutoFit/>
          </a:bodyPr>
          <a:lstStyle/>
          <a:p>
            <a:pPr algn="l">
              <a:lnSpc>
                <a:spcPct val="105000"/>
              </a:lnSpc>
              <a:spcAft>
                <a:spcPts val="600"/>
              </a:spcAft>
            </a:pPr>
            <a:r>
              <a:rPr sz="3000" b="1">
                <a:solidFill>
                  <a:srgbClr val="FF6A13"/>
                </a:solidFill>
                <a:latin typeface="Calibri"/>
              </a:rPr>
              <a:t>03</a:t>
            </a:r>
          </a:p>
        </p:txBody>
      </p:sp>
      <p:sp>
        <p:nvSpPr>
          <p:cNvPr id="19" name="TextBox 18"/>
          <p:cNvSpPr txBox="1"/>
          <p:nvPr/>
        </p:nvSpPr>
        <p:spPr>
          <a:xfrm>
            <a:off x="6501384" y="2651760"/>
            <a:ext cx="2286000" cy="457200"/>
          </a:xfrm>
          <a:prstGeom prst="rect">
            <a:avLst/>
          </a:prstGeom>
          <a:noFill/>
        </p:spPr>
        <p:txBody>
          <a:bodyPr wrap="square" anchor="t">
            <a:spAutoFit/>
          </a:bodyPr>
          <a:lstStyle/>
          <a:p>
            <a:pPr algn="l">
              <a:lnSpc>
                <a:spcPct val="105000"/>
              </a:lnSpc>
              <a:spcAft>
                <a:spcPts val="600"/>
              </a:spcAft>
            </a:pPr>
            <a:r>
              <a:rPr sz="1800" b="1">
                <a:solidFill>
                  <a:srgbClr val="0F172A"/>
                </a:solidFill>
                <a:latin typeface="Calibri"/>
              </a:rPr>
              <a:t>EXPLAIN</a:t>
            </a:r>
          </a:p>
        </p:txBody>
      </p:sp>
      <p:sp>
        <p:nvSpPr>
          <p:cNvPr id="20" name="TextBox 19"/>
          <p:cNvSpPr txBox="1"/>
          <p:nvPr/>
        </p:nvSpPr>
        <p:spPr>
          <a:xfrm>
            <a:off x="6501384" y="3154680"/>
            <a:ext cx="2286000" cy="2377440"/>
          </a:xfrm>
          <a:prstGeom prst="rect">
            <a:avLst/>
          </a:prstGeom>
          <a:noFill/>
        </p:spPr>
        <p:txBody>
          <a:bodyPr wrap="square" anchor="t">
            <a:spAutoFit/>
          </a:bodyPr>
          <a:lstStyle/>
          <a:p>
            <a:pPr algn="l">
              <a:lnSpc>
                <a:spcPct val="115000"/>
              </a:lnSpc>
              <a:spcAft>
                <a:spcPts val="600"/>
              </a:spcAft>
            </a:pPr>
            <a:r>
              <a:rPr sz="1500" b="0">
                <a:solidFill>
                  <a:srgbClr val="334155"/>
                </a:solidFill>
                <a:latin typeface="Calibri"/>
              </a:rPr>
              <a:t>AI-written briefing that says WHY the forecast moved — seasonality, trend, spend &amp; mix.</a:t>
            </a:r>
          </a:p>
        </p:txBody>
      </p:sp>
      <p:sp>
        <p:nvSpPr>
          <p:cNvPr id="21" name="Rectangle 20"/>
          <p:cNvSpPr/>
          <p:nvPr/>
        </p:nvSpPr>
        <p:spPr>
          <a:xfrm>
            <a:off x="9134856" y="1691640"/>
            <a:ext cx="2743200" cy="40233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34856" y="1691640"/>
            <a:ext cx="2743200" cy="109728"/>
          </a:xfrm>
          <a:prstGeom prst="rect">
            <a:avLst/>
          </a:prstGeom>
          <a:solidFill>
            <a:srgbClr val="FF6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63456" y="1965960"/>
            <a:ext cx="2286000" cy="640080"/>
          </a:xfrm>
          <a:prstGeom prst="rect">
            <a:avLst/>
          </a:prstGeom>
          <a:noFill/>
        </p:spPr>
        <p:txBody>
          <a:bodyPr wrap="square" anchor="t">
            <a:spAutoFit/>
          </a:bodyPr>
          <a:lstStyle/>
          <a:p>
            <a:pPr algn="l">
              <a:lnSpc>
                <a:spcPct val="105000"/>
              </a:lnSpc>
              <a:spcAft>
                <a:spcPts val="600"/>
              </a:spcAft>
            </a:pPr>
            <a:r>
              <a:rPr sz="3000" b="1">
                <a:solidFill>
                  <a:srgbClr val="FF6A13"/>
                </a:solidFill>
                <a:latin typeface="Calibri"/>
              </a:rPr>
              <a:t>04</a:t>
            </a:r>
          </a:p>
        </p:txBody>
      </p:sp>
      <p:sp>
        <p:nvSpPr>
          <p:cNvPr id="24" name="TextBox 23"/>
          <p:cNvSpPr txBox="1"/>
          <p:nvPr/>
        </p:nvSpPr>
        <p:spPr>
          <a:xfrm>
            <a:off x="9363456" y="2651760"/>
            <a:ext cx="2286000" cy="457200"/>
          </a:xfrm>
          <a:prstGeom prst="rect">
            <a:avLst/>
          </a:prstGeom>
          <a:noFill/>
        </p:spPr>
        <p:txBody>
          <a:bodyPr wrap="square" anchor="t">
            <a:spAutoFit/>
          </a:bodyPr>
          <a:lstStyle/>
          <a:p>
            <a:pPr algn="l">
              <a:lnSpc>
                <a:spcPct val="105000"/>
              </a:lnSpc>
              <a:spcAft>
                <a:spcPts val="600"/>
              </a:spcAft>
            </a:pPr>
            <a:r>
              <a:rPr sz="1800" b="1">
                <a:solidFill>
                  <a:srgbClr val="0F172A"/>
                </a:solidFill>
                <a:latin typeface="Calibri"/>
              </a:rPr>
              <a:t>TRUST</a:t>
            </a:r>
          </a:p>
        </p:txBody>
      </p:sp>
      <p:sp>
        <p:nvSpPr>
          <p:cNvPr id="25" name="TextBox 24"/>
          <p:cNvSpPr txBox="1"/>
          <p:nvPr/>
        </p:nvSpPr>
        <p:spPr>
          <a:xfrm>
            <a:off x="9363456" y="3154680"/>
            <a:ext cx="2286000" cy="2377440"/>
          </a:xfrm>
          <a:prstGeom prst="rect">
            <a:avLst/>
          </a:prstGeom>
          <a:noFill/>
        </p:spPr>
        <p:txBody>
          <a:bodyPr wrap="square" anchor="t">
            <a:spAutoFit/>
          </a:bodyPr>
          <a:lstStyle/>
          <a:p>
            <a:pPr algn="l">
              <a:lnSpc>
                <a:spcPct val="115000"/>
              </a:lnSpc>
              <a:spcAft>
                <a:spcPts val="600"/>
              </a:spcAft>
            </a:pPr>
            <a:r>
              <a:rPr sz="1500" b="0">
                <a:solidFill>
                  <a:srgbClr val="334155"/>
                </a:solidFill>
                <a:latin typeface="Calibri"/>
              </a:rPr>
              <a:t>Runs offline, deterministic, one command, fully tested — reproducible on any machine.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50800"/>
          </a:xfrm>
          <a:prstGeom prst="rect">
            <a:avLst/>
          </a:prstGeom>
          <a:solidFill>
            <a:srgbClr val="FF6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10972800" cy="365760"/>
          </a:xfrm>
          <a:prstGeom prst="rect">
            <a:avLst/>
          </a:prstGeom>
          <a:noFill/>
        </p:spPr>
        <p:txBody>
          <a:bodyPr wrap="square" anchor="t">
            <a:spAutoFit/>
          </a:bodyPr>
          <a:lstStyle/>
          <a:p>
            <a:pPr algn="l">
              <a:lnSpc>
                <a:spcPct val="105000"/>
              </a:lnSpc>
              <a:spcAft>
                <a:spcPts val="600"/>
              </a:spcAft>
            </a:pPr>
            <a:r>
              <a:rPr sz="1200" b="1">
                <a:solidFill>
                  <a:srgbClr val="FF6A13"/>
                </a:solidFill>
                <a:latin typeface="Calibri"/>
              </a:rPr>
              <a:t>HOW IT WORKS</a:t>
            </a:r>
          </a:p>
        </p:txBody>
      </p:sp>
      <p:sp>
        <p:nvSpPr>
          <p:cNvPr id="5" name="TextBox 4"/>
          <p:cNvSpPr txBox="1"/>
          <p:nvPr/>
        </p:nvSpPr>
        <p:spPr>
          <a:xfrm>
            <a:off x="548640" y="475488"/>
            <a:ext cx="11064240" cy="685800"/>
          </a:xfrm>
          <a:prstGeom prst="rect">
            <a:avLst/>
          </a:prstGeom>
          <a:noFill/>
        </p:spPr>
        <p:txBody>
          <a:bodyPr wrap="square" anchor="t">
            <a:spAutoFit/>
          </a:bodyPr>
          <a:lstStyle/>
          <a:p>
            <a:pPr algn="l">
              <a:lnSpc>
                <a:spcPct val="105000"/>
              </a:lnSpc>
              <a:spcAft>
                <a:spcPts val="600"/>
              </a:spcAft>
            </a:pPr>
            <a:r>
              <a:rPr sz="2800" b="1">
                <a:solidFill>
                  <a:srgbClr val="FFFFFF"/>
                </a:solidFill>
                <a:latin typeface="Calibri"/>
              </a:rPr>
              <a:t>A four-stage pipeline, end to end</a:t>
            </a:r>
          </a:p>
        </p:txBody>
      </p:sp>
      <p:sp>
        <p:nvSpPr>
          <p:cNvPr id="6" name="Rectangle 5"/>
          <p:cNvSpPr/>
          <p:nvPr/>
        </p:nvSpPr>
        <p:spPr>
          <a:xfrm>
            <a:off x="548640" y="2194560"/>
            <a:ext cx="2606040" cy="301752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423160"/>
            <a:ext cx="2148840" cy="457200"/>
          </a:xfrm>
          <a:prstGeom prst="rect">
            <a:avLst/>
          </a:prstGeom>
          <a:noFill/>
        </p:spPr>
        <p:txBody>
          <a:bodyPr wrap="square" anchor="t">
            <a:spAutoFit/>
          </a:bodyPr>
          <a:lstStyle/>
          <a:p>
            <a:pPr algn="l">
              <a:lnSpc>
                <a:spcPct val="105000"/>
              </a:lnSpc>
              <a:spcAft>
                <a:spcPts val="600"/>
              </a:spcAft>
            </a:pPr>
            <a:r>
              <a:rPr sz="2600" b="1">
                <a:solidFill>
                  <a:srgbClr val="FF6A13"/>
                </a:solidFill>
                <a:latin typeface="Calibri"/>
              </a:rPr>
              <a:t>1</a:t>
            </a:r>
          </a:p>
        </p:txBody>
      </p:sp>
      <p:sp>
        <p:nvSpPr>
          <p:cNvPr id="8" name="TextBox 7"/>
          <p:cNvSpPr txBox="1"/>
          <p:nvPr/>
        </p:nvSpPr>
        <p:spPr>
          <a:xfrm>
            <a:off x="777240" y="2926080"/>
            <a:ext cx="2148840" cy="457200"/>
          </a:xfrm>
          <a:prstGeom prst="rect">
            <a:avLst/>
          </a:prstGeom>
          <a:noFill/>
        </p:spPr>
        <p:txBody>
          <a:bodyPr wrap="square" anchor="t">
            <a:spAutoFit/>
          </a:bodyPr>
          <a:lstStyle/>
          <a:p>
            <a:pPr algn="l">
              <a:lnSpc>
                <a:spcPct val="105000"/>
              </a:lnSpc>
              <a:spcAft>
                <a:spcPts val="600"/>
              </a:spcAft>
            </a:pPr>
            <a:r>
              <a:rPr sz="1700" b="1">
                <a:solidFill>
                  <a:srgbClr val="FFFFFF"/>
                </a:solidFill>
                <a:latin typeface="Calibri"/>
              </a:rPr>
              <a:t>INGEST</a:t>
            </a:r>
          </a:p>
        </p:txBody>
      </p:sp>
      <p:sp>
        <p:nvSpPr>
          <p:cNvPr id="9" name="TextBox 8"/>
          <p:cNvSpPr txBox="1"/>
          <p:nvPr/>
        </p:nvSpPr>
        <p:spPr>
          <a:xfrm>
            <a:off x="777240" y="3429000"/>
            <a:ext cx="2148840" cy="1691640"/>
          </a:xfrm>
          <a:prstGeom prst="rect">
            <a:avLst/>
          </a:prstGeom>
          <a:noFill/>
        </p:spPr>
        <p:txBody>
          <a:bodyPr wrap="square" anchor="t">
            <a:spAutoFit/>
          </a:bodyPr>
          <a:lstStyle/>
          <a:p>
            <a:pPr algn="l">
              <a:lnSpc>
                <a:spcPct val="115000"/>
              </a:lnSpc>
              <a:spcAft>
                <a:spcPts val="600"/>
              </a:spcAft>
            </a:pPr>
            <a:r>
              <a:rPr sz="1350" b="0">
                <a:solidFill>
                  <a:srgbClr val="E2E8F0"/>
                </a:solidFill>
                <a:latin typeface="Calibri"/>
              </a:rPr>
              <a:t>Read Google / Meta / Bing CSVs. Auto-detect each platform by its columns, not filename. Normalise into one clean table.</a:t>
            </a:r>
          </a:p>
        </p:txBody>
      </p:sp>
      <p:sp>
        <p:nvSpPr>
          <p:cNvPr id="10" name="TextBox 9"/>
          <p:cNvSpPr txBox="1"/>
          <p:nvPr/>
        </p:nvSpPr>
        <p:spPr>
          <a:xfrm>
            <a:off x="3136392" y="3429000"/>
            <a:ext cx="320040" cy="548640"/>
          </a:xfrm>
          <a:prstGeom prst="rect">
            <a:avLst/>
          </a:prstGeom>
          <a:noFill/>
        </p:spPr>
        <p:txBody>
          <a:bodyPr wrap="square" anchor="t">
            <a:spAutoFit/>
          </a:bodyPr>
          <a:lstStyle/>
          <a:p>
            <a:pPr algn="ctr">
              <a:lnSpc>
                <a:spcPct val="105000"/>
              </a:lnSpc>
              <a:spcAft>
                <a:spcPts val="600"/>
              </a:spcAft>
            </a:pPr>
            <a:r>
              <a:rPr sz="2600" b="1">
                <a:solidFill>
                  <a:srgbClr val="FF6A13"/>
                </a:solidFill>
                <a:latin typeface="Calibri"/>
              </a:rPr>
              <a:t>→</a:t>
            </a:r>
          </a:p>
        </p:txBody>
      </p:sp>
      <p:sp>
        <p:nvSpPr>
          <p:cNvPr id="11" name="Rectangle 10"/>
          <p:cNvSpPr/>
          <p:nvPr/>
        </p:nvSpPr>
        <p:spPr>
          <a:xfrm>
            <a:off x="3474720" y="2194560"/>
            <a:ext cx="2606040" cy="3017520"/>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2423160"/>
            <a:ext cx="2148840" cy="457200"/>
          </a:xfrm>
          <a:prstGeom prst="rect">
            <a:avLst/>
          </a:prstGeom>
          <a:noFill/>
        </p:spPr>
        <p:txBody>
          <a:bodyPr wrap="square" anchor="t">
            <a:spAutoFit/>
          </a:bodyPr>
          <a:lstStyle/>
          <a:p>
            <a:pPr algn="l">
              <a:lnSpc>
                <a:spcPct val="105000"/>
              </a:lnSpc>
              <a:spcAft>
                <a:spcPts val="600"/>
              </a:spcAft>
            </a:pPr>
            <a:r>
              <a:rPr sz="2600" b="1">
                <a:solidFill>
                  <a:srgbClr val="FF6A13"/>
                </a:solidFill>
                <a:latin typeface="Calibri"/>
              </a:rPr>
              <a:t>2</a:t>
            </a:r>
          </a:p>
        </p:txBody>
      </p:sp>
      <p:sp>
        <p:nvSpPr>
          <p:cNvPr id="13" name="TextBox 12"/>
          <p:cNvSpPr txBox="1"/>
          <p:nvPr/>
        </p:nvSpPr>
        <p:spPr>
          <a:xfrm>
            <a:off x="3703320" y="2926080"/>
            <a:ext cx="2148840" cy="457200"/>
          </a:xfrm>
          <a:prstGeom prst="rect">
            <a:avLst/>
          </a:prstGeom>
          <a:noFill/>
        </p:spPr>
        <p:txBody>
          <a:bodyPr wrap="square" anchor="t">
            <a:spAutoFit/>
          </a:bodyPr>
          <a:lstStyle/>
          <a:p>
            <a:pPr algn="l">
              <a:lnSpc>
                <a:spcPct val="105000"/>
              </a:lnSpc>
              <a:spcAft>
                <a:spcPts val="600"/>
              </a:spcAft>
            </a:pPr>
            <a:r>
              <a:rPr sz="1700" b="1">
                <a:solidFill>
                  <a:srgbClr val="FFFFFF"/>
                </a:solidFill>
                <a:latin typeface="Calibri"/>
              </a:rPr>
              <a:t>MODEL</a:t>
            </a:r>
          </a:p>
        </p:txBody>
      </p:sp>
      <p:sp>
        <p:nvSpPr>
          <p:cNvPr id="14" name="TextBox 13"/>
          <p:cNvSpPr txBox="1"/>
          <p:nvPr/>
        </p:nvSpPr>
        <p:spPr>
          <a:xfrm>
            <a:off x="3703320" y="3429000"/>
            <a:ext cx="2148840" cy="1691640"/>
          </a:xfrm>
          <a:prstGeom prst="rect">
            <a:avLst/>
          </a:prstGeom>
          <a:noFill/>
        </p:spPr>
        <p:txBody>
          <a:bodyPr wrap="square" anchor="t">
            <a:spAutoFit/>
          </a:bodyPr>
          <a:lstStyle/>
          <a:p>
            <a:pPr algn="l">
              <a:lnSpc>
                <a:spcPct val="115000"/>
              </a:lnSpc>
              <a:spcAft>
                <a:spcPts val="600"/>
              </a:spcAft>
            </a:pPr>
            <a:r>
              <a:rPr sz="1350" b="0">
                <a:solidFill>
                  <a:srgbClr val="E2E8F0"/>
                </a:solidFill>
                <a:latin typeface="Calibri"/>
              </a:rPr>
              <a:t>A transparent 'glass-box' model splits revenue into level, trend, seasonality and spend-response — each one inspectable.</a:t>
            </a:r>
          </a:p>
        </p:txBody>
      </p:sp>
      <p:sp>
        <p:nvSpPr>
          <p:cNvPr id="15" name="TextBox 14"/>
          <p:cNvSpPr txBox="1"/>
          <p:nvPr/>
        </p:nvSpPr>
        <p:spPr>
          <a:xfrm>
            <a:off x="6062472" y="3429000"/>
            <a:ext cx="320040" cy="548640"/>
          </a:xfrm>
          <a:prstGeom prst="rect">
            <a:avLst/>
          </a:prstGeom>
          <a:noFill/>
        </p:spPr>
        <p:txBody>
          <a:bodyPr wrap="square" anchor="t">
            <a:spAutoFit/>
          </a:bodyPr>
          <a:lstStyle/>
          <a:p>
            <a:pPr algn="ctr">
              <a:lnSpc>
                <a:spcPct val="105000"/>
              </a:lnSpc>
              <a:spcAft>
                <a:spcPts val="600"/>
              </a:spcAft>
            </a:pPr>
            <a:r>
              <a:rPr sz="2600" b="1">
                <a:solidFill>
                  <a:srgbClr val="FF6A13"/>
                </a:solidFill>
                <a:latin typeface="Calibri"/>
              </a:rPr>
              <a:t>→</a:t>
            </a:r>
          </a:p>
        </p:txBody>
      </p:sp>
      <p:sp>
        <p:nvSpPr>
          <p:cNvPr id="16" name="Rectangle 15"/>
          <p:cNvSpPr/>
          <p:nvPr/>
        </p:nvSpPr>
        <p:spPr>
          <a:xfrm>
            <a:off x="6400800" y="2194560"/>
            <a:ext cx="2606040" cy="301752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2423160"/>
            <a:ext cx="2148840" cy="457200"/>
          </a:xfrm>
          <a:prstGeom prst="rect">
            <a:avLst/>
          </a:prstGeom>
          <a:noFill/>
        </p:spPr>
        <p:txBody>
          <a:bodyPr wrap="square" anchor="t">
            <a:spAutoFit/>
          </a:bodyPr>
          <a:lstStyle/>
          <a:p>
            <a:pPr algn="l">
              <a:lnSpc>
                <a:spcPct val="105000"/>
              </a:lnSpc>
              <a:spcAft>
                <a:spcPts val="600"/>
              </a:spcAft>
            </a:pPr>
            <a:r>
              <a:rPr sz="2600" b="1">
                <a:solidFill>
                  <a:srgbClr val="FF6A13"/>
                </a:solidFill>
                <a:latin typeface="Calibri"/>
              </a:rPr>
              <a:t>3</a:t>
            </a:r>
          </a:p>
        </p:txBody>
      </p:sp>
      <p:sp>
        <p:nvSpPr>
          <p:cNvPr id="18" name="TextBox 17"/>
          <p:cNvSpPr txBox="1"/>
          <p:nvPr/>
        </p:nvSpPr>
        <p:spPr>
          <a:xfrm>
            <a:off x="6629400" y="2926080"/>
            <a:ext cx="2148840" cy="457200"/>
          </a:xfrm>
          <a:prstGeom prst="rect">
            <a:avLst/>
          </a:prstGeom>
          <a:noFill/>
        </p:spPr>
        <p:txBody>
          <a:bodyPr wrap="square" anchor="t">
            <a:spAutoFit/>
          </a:bodyPr>
          <a:lstStyle/>
          <a:p>
            <a:pPr algn="l">
              <a:lnSpc>
                <a:spcPct val="105000"/>
              </a:lnSpc>
              <a:spcAft>
                <a:spcPts val="600"/>
              </a:spcAft>
            </a:pPr>
            <a:r>
              <a:rPr sz="1700" b="1">
                <a:solidFill>
                  <a:srgbClr val="FFFFFF"/>
                </a:solidFill>
                <a:latin typeface="Calibri"/>
              </a:rPr>
              <a:t>SIMULATE</a:t>
            </a:r>
          </a:p>
        </p:txBody>
      </p:sp>
      <p:sp>
        <p:nvSpPr>
          <p:cNvPr id="19" name="TextBox 18"/>
          <p:cNvSpPr txBox="1"/>
          <p:nvPr/>
        </p:nvSpPr>
        <p:spPr>
          <a:xfrm>
            <a:off x="6629400" y="3429000"/>
            <a:ext cx="2148840" cy="1691640"/>
          </a:xfrm>
          <a:prstGeom prst="rect">
            <a:avLst/>
          </a:prstGeom>
          <a:noFill/>
        </p:spPr>
        <p:txBody>
          <a:bodyPr wrap="square" anchor="t">
            <a:spAutoFit/>
          </a:bodyPr>
          <a:lstStyle/>
          <a:p>
            <a:pPr algn="l">
              <a:lnSpc>
                <a:spcPct val="115000"/>
              </a:lnSpc>
              <a:spcAft>
                <a:spcPts val="600"/>
              </a:spcAft>
            </a:pPr>
            <a:r>
              <a:rPr sz="1350" b="0">
                <a:solidFill>
                  <a:srgbClr val="E2E8F0"/>
                </a:solidFill>
                <a:latin typeface="Calibri"/>
              </a:rPr>
              <a:t>Run 4,000 possible futures (Monte Carlo). Sum daily paths into 30/60/90-day totals to get a full range of outcomes.</a:t>
            </a:r>
          </a:p>
        </p:txBody>
      </p:sp>
      <p:sp>
        <p:nvSpPr>
          <p:cNvPr id="20" name="TextBox 19"/>
          <p:cNvSpPr txBox="1"/>
          <p:nvPr/>
        </p:nvSpPr>
        <p:spPr>
          <a:xfrm>
            <a:off x="8988552" y="3429000"/>
            <a:ext cx="320040" cy="548640"/>
          </a:xfrm>
          <a:prstGeom prst="rect">
            <a:avLst/>
          </a:prstGeom>
          <a:noFill/>
        </p:spPr>
        <p:txBody>
          <a:bodyPr wrap="square" anchor="t">
            <a:spAutoFit/>
          </a:bodyPr>
          <a:lstStyle/>
          <a:p>
            <a:pPr algn="ctr">
              <a:lnSpc>
                <a:spcPct val="105000"/>
              </a:lnSpc>
              <a:spcAft>
                <a:spcPts val="600"/>
              </a:spcAft>
            </a:pPr>
            <a:r>
              <a:rPr sz="2600" b="1">
                <a:solidFill>
                  <a:srgbClr val="FF6A13"/>
                </a:solidFill>
                <a:latin typeface="Calibri"/>
              </a:rPr>
              <a:t>→</a:t>
            </a:r>
          </a:p>
        </p:txBody>
      </p:sp>
      <p:sp>
        <p:nvSpPr>
          <p:cNvPr id="21" name="Rectangle 20"/>
          <p:cNvSpPr/>
          <p:nvPr/>
        </p:nvSpPr>
        <p:spPr>
          <a:xfrm>
            <a:off x="9326880" y="2194560"/>
            <a:ext cx="2606040" cy="3017520"/>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55480" y="2423160"/>
            <a:ext cx="2148840" cy="457200"/>
          </a:xfrm>
          <a:prstGeom prst="rect">
            <a:avLst/>
          </a:prstGeom>
          <a:noFill/>
        </p:spPr>
        <p:txBody>
          <a:bodyPr wrap="square" anchor="t">
            <a:spAutoFit/>
          </a:bodyPr>
          <a:lstStyle/>
          <a:p>
            <a:pPr algn="l">
              <a:lnSpc>
                <a:spcPct val="105000"/>
              </a:lnSpc>
              <a:spcAft>
                <a:spcPts val="600"/>
              </a:spcAft>
            </a:pPr>
            <a:r>
              <a:rPr sz="2600" b="1">
                <a:solidFill>
                  <a:srgbClr val="FF6A13"/>
                </a:solidFill>
                <a:latin typeface="Calibri"/>
              </a:rPr>
              <a:t>4</a:t>
            </a:r>
          </a:p>
        </p:txBody>
      </p:sp>
      <p:sp>
        <p:nvSpPr>
          <p:cNvPr id="23" name="TextBox 22"/>
          <p:cNvSpPr txBox="1"/>
          <p:nvPr/>
        </p:nvSpPr>
        <p:spPr>
          <a:xfrm>
            <a:off x="9555480" y="2926080"/>
            <a:ext cx="2148840" cy="457200"/>
          </a:xfrm>
          <a:prstGeom prst="rect">
            <a:avLst/>
          </a:prstGeom>
          <a:noFill/>
        </p:spPr>
        <p:txBody>
          <a:bodyPr wrap="square" anchor="t">
            <a:spAutoFit/>
          </a:bodyPr>
          <a:lstStyle/>
          <a:p>
            <a:pPr algn="l">
              <a:lnSpc>
                <a:spcPct val="105000"/>
              </a:lnSpc>
              <a:spcAft>
                <a:spcPts val="600"/>
              </a:spcAft>
            </a:pPr>
            <a:r>
              <a:rPr sz="1700" b="1">
                <a:solidFill>
                  <a:srgbClr val="FFFFFF"/>
                </a:solidFill>
                <a:latin typeface="Calibri"/>
              </a:rPr>
              <a:t>EXPLAIN</a:t>
            </a:r>
          </a:p>
        </p:txBody>
      </p:sp>
      <p:sp>
        <p:nvSpPr>
          <p:cNvPr id="24" name="TextBox 23"/>
          <p:cNvSpPr txBox="1"/>
          <p:nvPr/>
        </p:nvSpPr>
        <p:spPr>
          <a:xfrm>
            <a:off x="9555480" y="3429000"/>
            <a:ext cx="2148840" cy="1691640"/>
          </a:xfrm>
          <a:prstGeom prst="rect">
            <a:avLst/>
          </a:prstGeom>
          <a:noFill/>
        </p:spPr>
        <p:txBody>
          <a:bodyPr wrap="square" anchor="t">
            <a:spAutoFit/>
          </a:bodyPr>
          <a:lstStyle/>
          <a:p>
            <a:pPr algn="l">
              <a:lnSpc>
                <a:spcPct val="115000"/>
              </a:lnSpc>
              <a:spcAft>
                <a:spcPts val="600"/>
              </a:spcAft>
            </a:pPr>
            <a:r>
              <a:rPr sz="1350" b="0">
                <a:solidFill>
                  <a:srgbClr val="E2E8F0"/>
                </a:solidFill>
                <a:latin typeface="Calibri"/>
              </a:rPr>
              <a:t>Compute the drivers with plain math, then let an LLM narrate them into an executive briefing. Falls back offline.</a:t>
            </a:r>
          </a:p>
        </p:txBody>
      </p:sp>
      <p:sp>
        <p:nvSpPr>
          <p:cNvPr id="25" name="TextBox 24"/>
          <p:cNvSpPr txBox="1"/>
          <p:nvPr/>
        </p:nvSpPr>
        <p:spPr>
          <a:xfrm>
            <a:off x="548640" y="5486400"/>
            <a:ext cx="10972800" cy="548640"/>
          </a:xfrm>
          <a:prstGeom prst="rect">
            <a:avLst/>
          </a:prstGeom>
          <a:noFill/>
        </p:spPr>
        <p:txBody>
          <a:bodyPr wrap="square" anchor="t">
            <a:spAutoFit/>
          </a:bodyPr>
          <a:lstStyle/>
          <a:p>
            <a:pPr algn="l">
              <a:lnSpc>
                <a:spcPct val="105000"/>
              </a:lnSpc>
              <a:spcAft>
                <a:spcPts val="600"/>
              </a:spcAft>
            </a:pPr>
            <a:r>
              <a:rPr sz="1600" b="1">
                <a:solidFill>
                  <a:srgbClr val="64748B"/>
                </a:solidFill>
                <a:latin typeface="Calibri"/>
              </a:rPr>
              <a:t>One command runs all four stages:  ./run.sh   —  offline, no retraining, seeded for reproducibility.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50800"/>
          </a:xfrm>
          <a:prstGeom prst="rect">
            <a:avLst/>
          </a:prstGeom>
          <a:solidFill>
            <a:srgbClr val="FF6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10972800" cy="365760"/>
          </a:xfrm>
          <a:prstGeom prst="rect">
            <a:avLst/>
          </a:prstGeom>
          <a:noFill/>
        </p:spPr>
        <p:txBody>
          <a:bodyPr wrap="square" anchor="t">
            <a:spAutoFit/>
          </a:bodyPr>
          <a:lstStyle/>
          <a:p>
            <a:pPr algn="l">
              <a:lnSpc>
                <a:spcPct val="105000"/>
              </a:lnSpc>
              <a:spcAft>
                <a:spcPts val="600"/>
              </a:spcAft>
            </a:pPr>
            <a:r>
              <a:rPr sz="1200" b="1">
                <a:solidFill>
                  <a:srgbClr val="FF6A13"/>
                </a:solidFill>
                <a:latin typeface="Calibri"/>
              </a:rPr>
              <a:t>STAGE 1 — DATA</a:t>
            </a:r>
          </a:p>
        </p:txBody>
      </p:sp>
      <p:sp>
        <p:nvSpPr>
          <p:cNvPr id="5" name="TextBox 4"/>
          <p:cNvSpPr txBox="1"/>
          <p:nvPr/>
        </p:nvSpPr>
        <p:spPr>
          <a:xfrm>
            <a:off x="548640" y="475488"/>
            <a:ext cx="11064240" cy="685800"/>
          </a:xfrm>
          <a:prstGeom prst="rect">
            <a:avLst/>
          </a:prstGeom>
          <a:noFill/>
        </p:spPr>
        <p:txBody>
          <a:bodyPr wrap="square" anchor="t">
            <a:spAutoFit/>
          </a:bodyPr>
          <a:lstStyle/>
          <a:p>
            <a:pPr algn="l">
              <a:lnSpc>
                <a:spcPct val="105000"/>
              </a:lnSpc>
              <a:spcAft>
                <a:spcPts val="600"/>
              </a:spcAft>
            </a:pPr>
            <a:r>
              <a:rPr sz="2800" b="1">
                <a:solidFill>
                  <a:srgbClr val="FFFFFF"/>
                </a:solidFill>
                <a:latin typeface="Calibri"/>
              </a:rPr>
              <a:t>Turning three messy exports into one clean signal</a:t>
            </a:r>
          </a:p>
        </p:txBody>
      </p:sp>
      <p:sp>
        <p:nvSpPr>
          <p:cNvPr id="6" name="TextBox 5"/>
          <p:cNvSpPr txBox="1"/>
          <p:nvPr/>
        </p:nvSpPr>
        <p:spPr>
          <a:xfrm>
            <a:off x="548640" y="1600200"/>
            <a:ext cx="6492240" cy="4206240"/>
          </a:xfrm>
          <a:prstGeom prst="rect">
            <a:avLst/>
          </a:prstGeom>
          <a:noFill/>
        </p:spPr>
        <p:txBody>
          <a:bodyPr wrap="square">
            <a:spAutoFit/>
          </a:bodyPr>
          <a:lstStyle/>
          <a:p>
            <a:pPr>
              <a:lnSpc>
                <a:spcPct val="108000"/>
              </a:lnSpc>
              <a:spcAft>
                <a:spcPts val="1500"/>
              </a:spcAft>
            </a:pPr>
            <a:r>
              <a:rPr sz="1700" b="1">
                <a:solidFill>
                  <a:srgbClr val="FF6A13"/>
                </a:solidFill>
                <a:latin typeface="Calibri"/>
              </a:rPr>
              <a:t>•  </a:t>
            </a:r>
            <a:r>
              <a:rPr sz="1700" b="1">
                <a:solidFill>
                  <a:srgbClr val="334155"/>
                </a:solidFill>
                <a:latin typeface="Calibri"/>
              </a:rPr>
              <a:t>Three sources, three schemas </a:t>
            </a:r>
            <a:r>
              <a:rPr sz="1700" b="0">
                <a:solidFill>
                  <a:srgbClr val="334155"/>
                </a:solidFill>
                <a:latin typeface="Calibri"/>
              </a:rPr>
              <a:t>— Google Ads, Meta Ads, Microsoft (Bing) Ads, each exported differently.</a:t>
            </a:r>
          </a:p>
          <a:p>
            <a:pPr>
              <a:lnSpc>
                <a:spcPct val="108000"/>
              </a:lnSpc>
              <a:spcAft>
                <a:spcPts val="1500"/>
              </a:spcAft>
            </a:pPr>
            <a:r>
              <a:rPr sz="1700" b="1">
                <a:solidFill>
                  <a:srgbClr val="FF6A13"/>
                </a:solidFill>
                <a:latin typeface="Calibri"/>
              </a:rPr>
              <a:t>•  </a:t>
            </a:r>
            <a:r>
              <a:rPr sz="1700" b="1">
                <a:solidFill>
                  <a:srgbClr val="334155"/>
                </a:solidFill>
                <a:latin typeface="Calibri"/>
              </a:rPr>
              <a:t>Auto-detection by column fingerprint </a:t>
            </a:r>
            <a:r>
              <a:rPr sz="1700" b="0">
                <a:solidFill>
                  <a:srgbClr val="334155"/>
                </a:solidFill>
                <a:latin typeface="Calibri"/>
              </a:rPr>
              <a:t>— not by filename. Rename a file or swap the test data and it still works.</a:t>
            </a:r>
          </a:p>
          <a:p>
            <a:pPr>
              <a:lnSpc>
                <a:spcPct val="108000"/>
              </a:lnSpc>
              <a:spcAft>
                <a:spcPts val="1500"/>
              </a:spcAft>
            </a:pPr>
            <a:r>
              <a:rPr sz="1700" b="1">
                <a:solidFill>
                  <a:srgbClr val="FF6A13"/>
                </a:solidFill>
                <a:latin typeface="Calibri"/>
              </a:rPr>
              <a:t>•  </a:t>
            </a:r>
            <a:r>
              <a:rPr sz="1700" b="1">
                <a:solidFill>
                  <a:srgbClr val="334155"/>
                </a:solidFill>
                <a:latin typeface="Calibri"/>
              </a:rPr>
              <a:t>Campaign taxonomy built automatically </a:t>
            </a:r>
            <a:r>
              <a:rPr sz="1700" b="0">
                <a:solidFill>
                  <a:srgbClr val="334155"/>
                </a:solidFill>
                <a:latin typeface="Calibri"/>
              </a:rPr>
              <a:t>— every campaign classified into channel, campaign-type, and brand vs. non-brand.</a:t>
            </a:r>
          </a:p>
          <a:p>
            <a:pPr>
              <a:lnSpc>
                <a:spcPct val="108000"/>
              </a:lnSpc>
              <a:spcAft>
                <a:spcPts val="1500"/>
              </a:spcAft>
            </a:pPr>
            <a:r>
              <a:rPr sz="1700" b="1">
                <a:solidFill>
                  <a:srgbClr val="FF6A13"/>
                </a:solidFill>
                <a:latin typeface="Calibri"/>
              </a:rPr>
              <a:t>•  </a:t>
            </a:r>
            <a:r>
              <a:rPr sz="1700" b="1">
                <a:solidFill>
                  <a:srgbClr val="334155"/>
                </a:solidFill>
                <a:latin typeface="Calibri"/>
              </a:rPr>
              <a:t>Robust to the unexpected </a:t>
            </a:r>
            <a:r>
              <a:rPr sz="1700" b="0">
                <a:solidFill>
                  <a:srgbClr val="334155"/>
                </a:solidFill>
                <a:latin typeface="Calibri"/>
              </a:rPr>
              <a:t>— different row counts, shorter histories, a single platform, all-zero data: never crashes.</a:t>
            </a:r>
          </a:p>
        </p:txBody>
      </p:sp>
      <p:sp>
        <p:nvSpPr>
          <p:cNvPr id="7" name="Rectangle 6"/>
          <p:cNvSpPr/>
          <p:nvPr/>
        </p:nvSpPr>
        <p:spPr>
          <a:xfrm>
            <a:off x="7315200" y="1737360"/>
            <a:ext cx="4297680" cy="40233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0" y="1965960"/>
            <a:ext cx="3749039" cy="457200"/>
          </a:xfrm>
          <a:prstGeom prst="rect">
            <a:avLst/>
          </a:prstGeom>
          <a:noFill/>
        </p:spPr>
        <p:txBody>
          <a:bodyPr wrap="square" anchor="t">
            <a:spAutoFit/>
          </a:bodyPr>
          <a:lstStyle/>
          <a:p>
            <a:pPr algn="l">
              <a:lnSpc>
                <a:spcPct val="105000"/>
              </a:lnSpc>
              <a:spcAft>
                <a:spcPts val="600"/>
              </a:spcAft>
            </a:pPr>
            <a:r>
              <a:rPr sz="1300" b="1">
                <a:solidFill>
                  <a:srgbClr val="FF6A13"/>
                </a:solidFill>
                <a:latin typeface="Calibri"/>
              </a:rPr>
              <a:t>ON THE SAMPLE DATA</a:t>
            </a:r>
          </a:p>
        </p:txBody>
      </p:sp>
      <p:sp>
        <p:nvSpPr>
          <p:cNvPr id="9" name="TextBox 8"/>
          <p:cNvSpPr txBox="1"/>
          <p:nvPr/>
        </p:nvSpPr>
        <p:spPr>
          <a:xfrm>
            <a:off x="7589520" y="2468880"/>
            <a:ext cx="1645920" cy="731520"/>
          </a:xfrm>
          <a:prstGeom prst="rect">
            <a:avLst/>
          </a:prstGeom>
          <a:noFill/>
        </p:spPr>
        <p:txBody>
          <a:bodyPr wrap="square" anchor="t">
            <a:spAutoFit/>
          </a:bodyPr>
          <a:lstStyle/>
          <a:p>
            <a:pPr algn="l">
              <a:lnSpc>
                <a:spcPct val="105000"/>
              </a:lnSpc>
              <a:spcAft>
                <a:spcPts val="600"/>
              </a:spcAft>
            </a:pPr>
            <a:r>
              <a:rPr sz="3000" b="1">
                <a:solidFill>
                  <a:srgbClr val="0F172A"/>
                </a:solidFill>
                <a:latin typeface="Calibri"/>
              </a:rPr>
              <a:t>25,562</a:t>
            </a:r>
          </a:p>
        </p:txBody>
      </p:sp>
      <p:sp>
        <p:nvSpPr>
          <p:cNvPr id="10" name="TextBox 9"/>
          <p:cNvSpPr txBox="1"/>
          <p:nvPr/>
        </p:nvSpPr>
        <p:spPr>
          <a:xfrm>
            <a:off x="9326880" y="2587752"/>
            <a:ext cx="2194560" cy="548640"/>
          </a:xfrm>
          <a:prstGeom prst="rect">
            <a:avLst/>
          </a:prstGeom>
          <a:noFill/>
        </p:spPr>
        <p:txBody>
          <a:bodyPr wrap="square" anchor="t">
            <a:spAutoFit/>
          </a:bodyPr>
          <a:lstStyle/>
          <a:p>
            <a:pPr algn="l">
              <a:lnSpc>
                <a:spcPct val="105000"/>
              </a:lnSpc>
              <a:spcAft>
                <a:spcPts val="600"/>
              </a:spcAft>
            </a:pPr>
            <a:r>
              <a:rPr sz="1500" b="0">
                <a:solidFill>
                  <a:srgbClr val="334155"/>
                </a:solidFill>
                <a:latin typeface="Calibri"/>
              </a:rPr>
              <a:t>rows ingested</a:t>
            </a:r>
          </a:p>
        </p:txBody>
      </p:sp>
      <p:sp>
        <p:nvSpPr>
          <p:cNvPr id="11" name="TextBox 10"/>
          <p:cNvSpPr txBox="1"/>
          <p:nvPr/>
        </p:nvSpPr>
        <p:spPr>
          <a:xfrm>
            <a:off x="7589520" y="3264408"/>
            <a:ext cx="1645920" cy="731520"/>
          </a:xfrm>
          <a:prstGeom prst="rect">
            <a:avLst/>
          </a:prstGeom>
          <a:noFill/>
        </p:spPr>
        <p:txBody>
          <a:bodyPr wrap="square" anchor="t">
            <a:spAutoFit/>
          </a:bodyPr>
          <a:lstStyle/>
          <a:p>
            <a:pPr algn="l">
              <a:lnSpc>
                <a:spcPct val="105000"/>
              </a:lnSpc>
              <a:spcAft>
                <a:spcPts val="600"/>
              </a:spcAft>
            </a:pPr>
            <a:r>
              <a:rPr sz="3000" b="1">
                <a:solidFill>
                  <a:srgbClr val="0F172A"/>
                </a:solidFill>
                <a:latin typeface="Calibri"/>
              </a:rPr>
              <a:t>3</a:t>
            </a:r>
          </a:p>
        </p:txBody>
      </p:sp>
      <p:sp>
        <p:nvSpPr>
          <p:cNvPr id="12" name="TextBox 11"/>
          <p:cNvSpPr txBox="1"/>
          <p:nvPr/>
        </p:nvSpPr>
        <p:spPr>
          <a:xfrm>
            <a:off x="9326880" y="3383280"/>
            <a:ext cx="2194560" cy="548640"/>
          </a:xfrm>
          <a:prstGeom prst="rect">
            <a:avLst/>
          </a:prstGeom>
          <a:noFill/>
        </p:spPr>
        <p:txBody>
          <a:bodyPr wrap="square" anchor="t">
            <a:spAutoFit/>
          </a:bodyPr>
          <a:lstStyle/>
          <a:p>
            <a:pPr algn="l">
              <a:lnSpc>
                <a:spcPct val="105000"/>
              </a:lnSpc>
              <a:spcAft>
                <a:spcPts val="600"/>
              </a:spcAft>
            </a:pPr>
            <a:r>
              <a:rPr sz="1500" b="0">
                <a:solidFill>
                  <a:srgbClr val="334155"/>
                </a:solidFill>
                <a:latin typeface="Calibri"/>
              </a:rPr>
              <a:t>ad platforms unified</a:t>
            </a:r>
          </a:p>
        </p:txBody>
      </p:sp>
      <p:sp>
        <p:nvSpPr>
          <p:cNvPr id="13" name="TextBox 12"/>
          <p:cNvSpPr txBox="1"/>
          <p:nvPr/>
        </p:nvSpPr>
        <p:spPr>
          <a:xfrm>
            <a:off x="7589520" y="4059936"/>
            <a:ext cx="1645920" cy="731520"/>
          </a:xfrm>
          <a:prstGeom prst="rect">
            <a:avLst/>
          </a:prstGeom>
          <a:noFill/>
        </p:spPr>
        <p:txBody>
          <a:bodyPr wrap="square" anchor="t">
            <a:spAutoFit/>
          </a:bodyPr>
          <a:lstStyle/>
          <a:p>
            <a:pPr algn="l">
              <a:lnSpc>
                <a:spcPct val="105000"/>
              </a:lnSpc>
              <a:spcAft>
                <a:spcPts val="600"/>
              </a:spcAft>
            </a:pPr>
            <a:r>
              <a:rPr sz="3000" b="1">
                <a:solidFill>
                  <a:srgbClr val="0F172A"/>
                </a:solidFill>
                <a:latin typeface="Calibri"/>
              </a:rPr>
              <a:t>13</a:t>
            </a:r>
          </a:p>
        </p:txBody>
      </p:sp>
      <p:sp>
        <p:nvSpPr>
          <p:cNvPr id="14" name="TextBox 13"/>
          <p:cNvSpPr txBox="1"/>
          <p:nvPr/>
        </p:nvSpPr>
        <p:spPr>
          <a:xfrm>
            <a:off x="9326880" y="4178808"/>
            <a:ext cx="2194560" cy="548640"/>
          </a:xfrm>
          <a:prstGeom prst="rect">
            <a:avLst/>
          </a:prstGeom>
          <a:noFill/>
        </p:spPr>
        <p:txBody>
          <a:bodyPr wrap="square" anchor="t">
            <a:spAutoFit/>
          </a:bodyPr>
          <a:lstStyle/>
          <a:p>
            <a:pPr algn="l">
              <a:lnSpc>
                <a:spcPct val="105000"/>
              </a:lnSpc>
              <a:spcAft>
                <a:spcPts val="600"/>
              </a:spcAft>
            </a:pPr>
            <a:r>
              <a:rPr sz="1500" b="0">
                <a:solidFill>
                  <a:srgbClr val="334155"/>
                </a:solidFill>
                <a:latin typeface="Calibri"/>
              </a:rPr>
              <a:t>channel × type segments</a:t>
            </a:r>
          </a:p>
        </p:txBody>
      </p:sp>
      <p:sp>
        <p:nvSpPr>
          <p:cNvPr id="15" name="TextBox 14"/>
          <p:cNvSpPr txBox="1"/>
          <p:nvPr/>
        </p:nvSpPr>
        <p:spPr>
          <a:xfrm>
            <a:off x="7589520" y="4855464"/>
            <a:ext cx="1645920" cy="731520"/>
          </a:xfrm>
          <a:prstGeom prst="rect">
            <a:avLst/>
          </a:prstGeom>
          <a:noFill/>
        </p:spPr>
        <p:txBody>
          <a:bodyPr wrap="square" anchor="t">
            <a:spAutoFit/>
          </a:bodyPr>
          <a:lstStyle/>
          <a:p>
            <a:pPr algn="l">
              <a:lnSpc>
                <a:spcPct val="105000"/>
              </a:lnSpc>
              <a:spcAft>
                <a:spcPts val="600"/>
              </a:spcAft>
            </a:pPr>
            <a:r>
              <a:rPr sz="3000" b="1">
                <a:solidFill>
                  <a:srgbClr val="0F172A"/>
                </a:solidFill>
                <a:latin typeface="Calibri"/>
              </a:rPr>
              <a:t>136</a:t>
            </a:r>
          </a:p>
        </p:txBody>
      </p:sp>
      <p:sp>
        <p:nvSpPr>
          <p:cNvPr id="16" name="TextBox 15"/>
          <p:cNvSpPr txBox="1"/>
          <p:nvPr/>
        </p:nvSpPr>
        <p:spPr>
          <a:xfrm>
            <a:off x="9326880" y="4974336"/>
            <a:ext cx="2194560" cy="548640"/>
          </a:xfrm>
          <a:prstGeom prst="rect">
            <a:avLst/>
          </a:prstGeom>
          <a:noFill/>
        </p:spPr>
        <p:txBody>
          <a:bodyPr wrap="square" anchor="t">
            <a:spAutoFit/>
          </a:bodyPr>
          <a:lstStyle/>
          <a:p>
            <a:pPr algn="l">
              <a:lnSpc>
                <a:spcPct val="105000"/>
              </a:lnSpc>
              <a:spcAft>
                <a:spcPts val="600"/>
              </a:spcAft>
            </a:pPr>
            <a:r>
              <a:rPr sz="1500" b="0">
                <a:solidFill>
                  <a:srgbClr val="334155"/>
                </a:solidFill>
                <a:latin typeface="Calibri"/>
              </a:rPr>
              <a:t>individual campaigns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50800"/>
          </a:xfrm>
          <a:prstGeom prst="rect">
            <a:avLst/>
          </a:prstGeom>
          <a:solidFill>
            <a:srgbClr val="FF6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10972800" cy="365760"/>
          </a:xfrm>
          <a:prstGeom prst="rect">
            <a:avLst/>
          </a:prstGeom>
          <a:noFill/>
        </p:spPr>
        <p:txBody>
          <a:bodyPr wrap="square" anchor="t">
            <a:spAutoFit/>
          </a:bodyPr>
          <a:lstStyle/>
          <a:p>
            <a:pPr algn="l">
              <a:lnSpc>
                <a:spcPct val="105000"/>
              </a:lnSpc>
              <a:spcAft>
                <a:spcPts val="600"/>
              </a:spcAft>
            </a:pPr>
            <a:r>
              <a:rPr sz="1200" b="1">
                <a:solidFill>
                  <a:srgbClr val="FF6A13"/>
                </a:solidFill>
                <a:latin typeface="Calibri"/>
              </a:rPr>
              <a:t>STAGE 2 — THE MODEL</a:t>
            </a:r>
          </a:p>
        </p:txBody>
      </p:sp>
      <p:sp>
        <p:nvSpPr>
          <p:cNvPr id="5" name="TextBox 4"/>
          <p:cNvSpPr txBox="1"/>
          <p:nvPr/>
        </p:nvSpPr>
        <p:spPr>
          <a:xfrm>
            <a:off x="548640" y="475488"/>
            <a:ext cx="11064240" cy="685800"/>
          </a:xfrm>
          <a:prstGeom prst="rect">
            <a:avLst/>
          </a:prstGeom>
          <a:noFill/>
        </p:spPr>
        <p:txBody>
          <a:bodyPr wrap="square" anchor="t">
            <a:spAutoFit/>
          </a:bodyPr>
          <a:lstStyle/>
          <a:p>
            <a:pPr algn="l">
              <a:lnSpc>
                <a:spcPct val="105000"/>
              </a:lnSpc>
              <a:spcAft>
                <a:spcPts val="600"/>
              </a:spcAft>
            </a:pPr>
            <a:r>
              <a:rPr sz="2800" b="1">
                <a:solidFill>
                  <a:srgbClr val="FFFFFF"/>
                </a:solidFill>
                <a:latin typeface="Calibri"/>
              </a:rPr>
              <a:t>A glass box: four forces that drive revenue</a:t>
            </a:r>
          </a:p>
        </p:txBody>
      </p:sp>
      <p:sp>
        <p:nvSpPr>
          <p:cNvPr id="6" name="Rectangle 5"/>
          <p:cNvSpPr/>
          <p:nvPr/>
        </p:nvSpPr>
        <p:spPr>
          <a:xfrm>
            <a:off x="548640" y="1691640"/>
            <a:ext cx="2651760" cy="23774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91640"/>
            <a:ext cx="91440" cy="2377440"/>
          </a:xfrm>
          <a:prstGeom prst="rect">
            <a:avLst/>
          </a:prstGeom>
          <a:solidFill>
            <a:srgbClr val="FF6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920240"/>
            <a:ext cx="2194560" cy="457200"/>
          </a:xfrm>
          <a:prstGeom prst="rect">
            <a:avLst/>
          </a:prstGeom>
          <a:noFill/>
        </p:spPr>
        <p:txBody>
          <a:bodyPr wrap="square" anchor="t">
            <a:spAutoFit/>
          </a:bodyPr>
          <a:lstStyle/>
          <a:p>
            <a:pPr algn="l">
              <a:lnSpc>
                <a:spcPct val="105000"/>
              </a:lnSpc>
              <a:spcAft>
                <a:spcPts val="600"/>
              </a:spcAft>
            </a:pPr>
            <a:r>
              <a:rPr sz="1600" b="1">
                <a:solidFill>
                  <a:srgbClr val="0F172A"/>
                </a:solidFill>
                <a:latin typeface="Calibri"/>
              </a:rPr>
              <a:t>LEVEL</a:t>
            </a:r>
          </a:p>
        </p:txBody>
      </p:sp>
      <p:sp>
        <p:nvSpPr>
          <p:cNvPr id="9" name="TextBox 8"/>
          <p:cNvSpPr txBox="1"/>
          <p:nvPr/>
        </p:nvSpPr>
        <p:spPr>
          <a:xfrm>
            <a:off x="804672" y="2423160"/>
            <a:ext cx="2194560" cy="1554480"/>
          </a:xfrm>
          <a:prstGeom prst="rect">
            <a:avLst/>
          </a:prstGeom>
          <a:noFill/>
        </p:spPr>
        <p:txBody>
          <a:bodyPr wrap="square" anchor="t">
            <a:spAutoFit/>
          </a:bodyPr>
          <a:lstStyle/>
          <a:p>
            <a:pPr algn="l">
              <a:lnSpc>
                <a:spcPct val="115000"/>
              </a:lnSpc>
              <a:spcAft>
                <a:spcPts val="600"/>
              </a:spcAft>
            </a:pPr>
            <a:r>
              <a:rPr sz="1400" b="0">
                <a:solidFill>
                  <a:srgbClr val="334155"/>
                </a:solidFill>
                <a:latin typeface="Calibri"/>
              </a:rPr>
              <a:t>The baseline — where revenue sits right now.</a:t>
            </a:r>
          </a:p>
        </p:txBody>
      </p:sp>
      <p:sp>
        <p:nvSpPr>
          <p:cNvPr id="10" name="Rectangle 9"/>
          <p:cNvSpPr/>
          <p:nvPr/>
        </p:nvSpPr>
        <p:spPr>
          <a:xfrm>
            <a:off x="3383280" y="1691640"/>
            <a:ext cx="2651760" cy="23774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83280" y="1691640"/>
            <a:ext cx="91440" cy="2377440"/>
          </a:xfrm>
          <a:prstGeom prst="rect">
            <a:avLst/>
          </a:prstGeom>
          <a:solidFill>
            <a:srgbClr val="FF6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9312" y="1920240"/>
            <a:ext cx="2194560" cy="457200"/>
          </a:xfrm>
          <a:prstGeom prst="rect">
            <a:avLst/>
          </a:prstGeom>
          <a:noFill/>
        </p:spPr>
        <p:txBody>
          <a:bodyPr wrap="square" anchor="t">
            <a:spAutoFit/>
          </a:bodyPr>
          <a:lstStyle/>
          <a:p>
            <a:pPr algn="l">
              <a:lnSpc>
                <a:spcPct val="105000"/>
              </a:lnSpc>
              <a:spcAft>
                <a:spcPts val="600"/>
              </a:spcAft>
            </a:pPr>
            <a:r>
              <a:rPr sz="1600" b="1">
                <a:solidFill>
                  <a:srgbClr val="0F172A"/>
                </a:solidFill>
                <a:latin typeface="Calibri"/>
              </a:rPr>
              <a:t>TREND</a:t>
            </a:r>
          </a:p>
        </p:txBody>
      </p:sp>
      <p:sp>
        <p:nvSpPr>
          <p:cNvPr id="13" name="TextBox 12"/>
          <p:cNvSpPr txBox="1"/>
          <p:nvPr/>
        </p:nvSpPr>
        <p:spPr>
          <a:xfrm>
            <a:off x="3639312" y="2423160"/>
            <a:ext cx="2194560" cy="1554480"/>
          </a:xfrm>
          <a:prstGeom prst="rect">
            <a:avLst/>
          </a:prstGeom>
          <a:noFill/>
        </p:spPr>
        <p:txBody>
          <a:bodyPr wrap="square" anchor="t">
            <a:spAutoFit/>
          </a:bodyPr>
          <a:lstStyle/>
          <a:p>
            <a:pPr algn="l">
              <a:lnSpc>
                <a:spcPct val="115000"/>
              </a:lnSpc>
              <a:spcAft>
                <a:spcPts val="600"/>
              </a:spcAft>
            </a:pPr>
            <a:r>
              <a:rPr sz="1400" b="0">
                <a:solidFill>
                  <a:srgbClr val="334155"/>
                </a:solidFill>
                <a:latin typeface="Calibri"/>
              </a:rPr>
              <a:t>Slow growth or decline, damped so it doesn't run away over 90 days.</a:t>
            </a:r>
          </a:p>
        </p:txBody>
      </p:sp>
      <p:sp>
        <p:nvSpPr>
          <p:cNvPr id="14" name="Rectangle 13"/>
          <p:cNvSpPr/>
          <p:nvPr/>
        </p:nvSpPr>
        <p:spPr>
          <a:xfrm>
            <a:off x="6217920" y="1691640"/>
            <a:ext cx="2651760" cy="23774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691640"/>
            <a:ext cx="91440" cy="2377440"/>
          </a:xfrm>
          <a:prstGeom prst="rect">
            <a:avLst/>
          </a:prstGeom>
          <a:solidFill>
            <a:srgbClr val="FF6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73952" y="1920240"/>
            <a:ext cx="2194560" cy="457200"/>
          </a:xfrm>
          <a:prstGeom prst="rect">
            <a:avLst/>
          </a:prstGeom>
          <a:noFill/>
        </p:spPr>
        <p:txBody>
          <a:bodyPr wrap="square" anchor="t">
            <a:spAutoFit/>
          </a:bodyPr>
          <a:lstStyle/>
          <a:p>
            <a:pPr algn="l">
              <a:lnSpc>
                <a:spcPct val="105000"/>
              </a:lnSpc>
              <a:spcAft>
                <a:spcPts val="600"/>
              </a:spcAft>
            </a:pPr>
            <a:r>
              <a:rPr sz="1600" b="1">
                <a:solidFill>
                  <a:srgbClr val="0F172A"/>
                </a:solidFill>
                <a:latin typeface="Calibri"/>
              </a:rPr>
              <a:t>SEASONALITY</a:t>
            </a:r>
          </a:p>
        </p:txBody>
      </p:sp>
      <p:sp>
        <p:nvSpPr>
          <p:cNvPr id="17" name="TextBox 16"/>
          <p:cNvSpPr txBox="1"/>
          <p:nvPr/>
        </p:nvSpPr>
        <p:spPr>
          <a:xfrm>
            <a:off x="6473952" y="2423160"/>
            <a:ext cx="2194560" cy="1554480"/>
          </a:xfrm>
          <a:prstGeom prst="rect">
            <a:avLst/>
          </a:prstGeom>
          <a:noFill/>
        </p:spPr>
        <p:txBody>
          <a:bodyPr wrap="square" anchor="t">
            <a:spAutoFit/>
          </a:bodyPr>
          <a:lstStyle/>
          <a:p>
            <a:pPr algn="l">
              <a:lnSpc>
                <a:spcPct val="115000"/>
              </a:lnSpc>
              <a:spcAft>
                <a:spcPts val="600"/>
              </a:spcAft>
            </a:pPr>
            <a:r>
              <a:rPr sz="1400" b="0">
                <a:solidFill>
                  <a:srgbClr val="334155"/>
                </a:solidFill>
                <a:latin typeface="Calibri"/>
              </a:rPr>
              <a:t>Weekly &amp; holiday patterns. Sparse segments borrow shape from the whole (partial pooling).</a:t>
            </a:r>
          </a:p>
        </p:txBody>
      </p:sp>
      <p:sp>
        <p:nvSpPr>
          <p:cNvPr id="18" name="Rectangle 17"/>
          <p:cNvSpPr/>
          <p:nvPr/>
        </p:nvSpPr>
        <p:spPr>
          <a:xfrm>
            <a:off x="9052560" y="1691640"/>
            <a:ext cx="2651760" cy="23774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52560" y="1691640"/>
            <a:ext cx="91440" cy="2377440"/>
          </a:xfrm>
          <a:prstGeom prst="rect">
            <a:avLst/>
          </a:prstGeom>
          <a:solidFill>
            <a:srgbClr val="FF6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08592" y="1920240"/>
            <a:ext cx="2194560" cy="457200"/>
          </a:xfrm>
          <a:prstGeom prst="rect">
            <a:avLst/>
          </a:prstGeom>
          <a:noFill/>
        </p:spPr>
        <p:txBody>
          <a:bodyPr wrap="square" anchor="t">
            <a:spAutoFit/>
          </a:bodyPr>
          <a:lstStyle/>
          <a:p>
            <a:pPr algn="l">
              <a:lnSpc>
                <a:spcPct val="105000"/>
              </a:lnSpc>
              <a:spcAft>
                <a:spcPts val="600"/>
              </a:spcAft>
            </a:pPr>
            <a:r>
              <a:rPr sz="1600" b="1">
                <a:solidFill>
                  <a:srgbClr val="0F172A"/>
                </a:solidFill>
                <a:latin typeface="Calibri"/>
              </a:rPr>
              <a:t>SPEND RESPONSE</a:t>
            </a:r>
          </a:p>
        </p:txBody>
      </p:sp>
      <p:sp>
        <p:nvSpPr>
          <p:cNvPr id="21" name="TextBox 20"/>
          <p:cNvSpPr txBox="1"/>
          <p:nvPr/>
        </p:nvSpPr>
        <p:spPr>
          <a:xfrm>
            <a:off x="9308592" y="2423160"/>
            <a:ext cx="2194560" cy="1554480"/>
          </a:xfrm>
          <a:prstGeom prst="rect">
            <a:avLst/>
          </a:prstGeom>
          <a:noFill/>
        </p:spPr>
        <p:txBody>
          <a:bodyPr wrap="square" anchor="t">
            <a:spAutoFit/>
          </a:bodyPr>
          <a:lstStyle/>
          <a:p>
            <a:pPr algn="l">
              <a:lnSpc>
                <a:spcPct val="115000"/>
              </a:lnSpc>
              <a:spcAft>
                <a:spcPts val="600"/>
              </a:spcAft>
            </a:pPr>
            <a:r>
              <a:rPr sz="1400" b="0">
                <a:solidFill>
                  <a:srgbClr val="334155"/>
                </a:solidFill>
                <a:latin typeface="Calibri"/>
              </a:rPr>
              <a:t>More spend → more revenue, but with diminishing returns (elasticity ≈ 0.6–0.8).</a:t>
            </a:r>
          </a:p>
        </p:txBody>
      </p:sp>
      <p:sp>
        <p:nvSpPr>
          <p:cNvPr id="22" name="Rectangle 21"/>
          <p:cNvSpPr/>
          <p:nvPr/>
        </p:nvSpPr>
        <p:spPr>
          <a:xfrm>
            <a:off x="548640" y="4343400"/>
            <a:ext cx="11064240" cy="13716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572000"/>
            <a:ext cx="10607040" cy="457200"/>
          </a:xfrm>
          <a:prstGeom prst="rect">
            <a:avLst/>
          </a:prstGeom>
          <a:noFill/>
        </p:spPr>
        <p:txBody>
          <a:bodyPr wrap="square" anchor="t">
            <a:spAutoFit/>
          </a:bodyPr>
          <a:lstStyle/>
          <a:p>
            <a:pPr algn="ctr">
              <a:lnSpc>
                <a:spcPct val="105000"/>
              </a:lnSpc>
              <a:spcAft>
                <a:spcPts val="600"/>
              </a:spcAft>
            </a:pPr>
            <a:r>
              <a:rPr sz="2200" b="1">
                <a:solidFill>
                  <a:srgbClr val="FFFFFF"/>
                </a:solidFill>
                <a:latin typeface="Calibri"/>
              </a:rPr>
              <a:t>revenue  ≈  level  ×  trend  ×  seasonality  ×  spend-response  ×  noise</a:t>
            </a:r>
          </a:p>
        </p:txBody>
      </p:sp>
      <p:sp>
        <p:nvSpPr>
          <p:cNvPr id="24" name="TextBox 23"/>
          <p:cNvSpPr txBox="1"/>
          <p:nvPr/>
        </p:nvSpPr>
        <p:spPr>
          <a:xfrm>
            <a:off x="822960" y="5120640"/>
            <a:ext cx="10607040" cy="457200"/>
          </a:xfrm>
          <a:prstGeom prst="rect">
            <a:avLst/>
          </a:prstGeom>
          <a:noFill/>
        </p:spPr>
        <p:txBody>
          <a:bodyPr wrap="square" anchor="t">
            <a:spAutoFit/>
          </a:bodyPr>
          <a:lstStyle/>
          <a:p>
            <a:pPr algn="ctr">
              <a:lnSpc>
                <a:spcPct val="105000"/>
              </a:lnSpc>
              <a:spcAft>
                <a:spcPts val="600"/>
              </a:spcAft>
            </a:pPr>
            <a:r>
              <a:rPr sz="1500" b="0">
                <a:solidFill>
                  <a:srgbClr val="CBD5E1"/>
                </a:solidFill>
                <a:latin typeface="Calibri"/>
              </a:rPr>
              <a:t>Because each force is separate and visible, we can explain WHY the forecast moves — not just what it 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50800"/>
          </a:xfrm>
          <a:prstGeom prst="rect">
            <a:avLst/>
          </a:prstGeom>
          <a:solidFill>
            <a:srgbClr val="FF6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10972800" cy="365760"/>
          </a:xfrm>
          <a:prstGeom prst="rect">
            <a:avLst/>
          </a:prstGeom>
          <a:noFill/>
        </p:spPr>
        <p:txBody>
          <a:bodyPr wrap="square" anchor="t">
            <a:spAutoFit/>
          </a:bodyPr>
          <a:lstStyle/>
          <a:p>
            <a:pPr algn="l">
              <a:lnSpc>
                <a:spcPct val="105000"/>
              </a:lnSpc>
              <a:spcAft>
                <a:spcPts val="600"/>
              </a:spcAft>
            </a:pPr>
            <a:r>
              <a:rPr sz="1200" b="1">
                <a:solidFill>
                  <a:srgbClr val="FF6A13"/>
                </a:solidFill>
                <a:latin typeface="Calibri"/>
              </a:rPr>
              <a:t>STAGE 3 — UNCERTAINTY</a:t>
            </a:r>
          </a:p>
        </p:txBody>
      </p:sp>
      <p:sp>
        <p:nvSpPr>
          <p:cNvPr id="5" name="TextBox 4"/>
          <p:cNvSpPr txBox="1"/>
          <p:nvPr/>
        </p:nvSpPr>
        <p:spPr>
          <a:xfrm>
            <a:off x="548640" y="475488"/>
            <a:ext cx="11064240" cy="685800"/>
          </a:xfrm>
          <a:prstGeom prst="rect">
            <a:avLst/>
          </a:prstGeom>
          <a:noFill/>
        </p:spPr>
        <p:txBody>
          <a:bodyPr wrap="square" anchor="t">
            <a:spAutoFit/>
          </a:bodyPr>
          <a:lstStyle/>
          <a:p>
            <a:pPr algn="l">
              <a:lnSpc>
                <a:spcPct val="105000"/>
              </a:lnSpc>
              <a:spcAft>
                <a:spcPts val="600"/>
              </a:spcAft>
            </a:pPr>
            <a:r>
              <a:rPr sz="2800" b="1">
                <a:solidFill>
                  <a:srgbClr val="FFFFFF"/>
                </a:solidFill>
                <a:latin typeface="Calibri"/>
              </a:rPr>
              <a:t>A range, not a false-precise single number</a:t>
            </a:r>
          </a:p>
        </p:txBody>
      </p:sp>
      <p:sp>
        <p:nvSpPr>
          <p:cNvPr id="6" name="TextBox 5"/>
          <p:cNvSpPr txBox="1"/>
          <p:nvPr/>
        </p:nvSpPr>
        <p:spPr>
          <a:xfrm>
            <a:off x="548640" y="1600200"/>
            <a:ext cx="6400800" cy="4206240"/>
          </a:xfrm>
          <a:prstGeom prst="rect">
            <a:avLst/>
          </a:prstGeom>
          <a:noFill/>
        </p:spPr>
        <p:txBody>
          <a:bodyPr wrap="square">
            <a:spAutoFit/>
          </a:bodyPr>
          <a:lstStyle/>
          <a:p>
            <a:pPr>
              <a:lnSpc>
                <a:spcPct val="108000"/>
              </a:lnSpc>
              <a:spcAft>
                <a:spcPts val="1500"/>
              </a:spcAft>
            </a:pPr>
            <a:r>
              <a:rPr sz="1700" b="1">
                <a:solidFill>
                  <a:srgbClr val="FF6A13"/>
                </a:solidFill>
                <a:latin typeface="Calibri"/>
              </a:rPr>
              <a:t>•  </a:t>
            </a:r>
            <a:r>
              <a:rPr sz="1700" b="1">
                <a:solidFill>
                  <a:srgbClr val="334155"/>
                </a:solidFill>
                <a:latin typeface="Calibri"/>
              </a:rPr>
              <a:t>We simulate 4,000 possible futures </a:t>
            </a:r>
            <a:r>
              <a:rPr sz="1700" b="0">
                <a:solidFill>
                  <a:srgbClr val="334155"/>
                </a:solidFill>
                <a:latin typeface="Calibri"/>
              </a:rPr>
              <a:t>(Monte Carlo) — each with different realistic ups and downs.</a:t>
            </a:r>
          </a:p>
          <a:p>
            <a:pPr>
              <a:lnSpc>
                <a:spcPct val="108000"/>
              </a:lnSpc>
              <a:spcAft>
                <a:spcPts val="1500"/>
              </a:spcAft>
            </a:pPr>
            <a:r>
              <a:rPr sz="1700" b="1">
                <a:solidFill>
                  <a:srgbClr val="FF6A13"/>
                </a:solidFill>
                <a:latin typeface="Calibri"/>
              </a:rPr>
              <a:t>•  </a:t>
            </a:r>
            <a:r>
              <a:rPr sz="1700" b="1">
                <a:solidFill>
                  <a:srgbClr val="334155"/>
                </a:solidFill>
                <a:latin typeface="Calibri"/>
              </a:rPr>
              <a:t>Noise is realistic, not random </a:t>
            </a:r>
            <a:r>
              <a:rPr sz="1700" b="0">
                <a:solidFill>
                  <a:srgbClr val="334155"/>
                </a:solidFill>
                <a:latin typeface="Calibri"/>
              </a:rPr>
              <a:t>— block bootstrap keeps real-world autocorrelation, plus a shared macro shock across channels.</a:t>
            </a:r>
          </a:p>
          <a:p>
            <a:pPr>
              <a:lnSpc>
                <a:spcPct val="108000"/>
              </a:lnSpc>
              <a:spcAft>
                <a:spcPts val="1500"/>
              </a:spcAft>
            </a:pPr>
            <a:r>
              <a:rPr sz="1700" b="1">
                <a:solidFill>
                  <a:srgbClr val="FF6A13"/>
                </a:solidFill>
                <a:latin typeface="Calibri"/>
              </a:rPr>
              <a:t>•  </a:t>
            </a:r>
            <a:r>
              <a:rPr sz="1700" b="1">
                <a:solidFill>
                  <a:srgbClr val="334155"/>
                </a:solidFill>
                <a:latin typeface="Calibri"/>
              </a:rPr>
              <a:t>Sum daily paths into 30/60/90-day totals </a:t>
            </a:r>
            <a:r>
              <a:rPr sz="1700" b="0">
                <a:solidFill>
                  <a:srgbClr val="334155"/>
                </a:solidFill>
                <a:latin typeface="Calibri"/>
              </a:rPr>
              <a:t>→ a full distribution of outcomes for each planning window.</a:t>
            </a:r>
          </a:p>
          <a:p>
            <a:pPr>
              <a:lnSpc>
                <a:spcPct val="108000"/>
              </a:lnSpc>
              <a:spcAft>
                <a:spcPts val="1500"/>
              </a:spcAft>
            </a:pPr>
            <a:r>
              <a:rPr sz="1700" b="1">
                <a:solidFill>
                  <a:srgbClr val="FF6A13"/>
                </a:solidFill>
                <a:latin typeface="Calibri"/>
              </a:rPr>
              <a:t>•  </a:t>
            </a:r>
            <a:r>
              <a:rPr sz="1700" b="1">
                <a:solidFill>
                  <a:srgbClr val="334155"/>
                </a:solidFill>
                <a:latin typeface="Calibri"/>
              </a:rPr>
              <a:t>Intervals are calibrated (split-conformal) </a:t>
            </a:r>
            <a:r>
              <a:rPr sz="1700" b="0">
                <a:solidFill>
                  <a:srgbClr val="334155"/>
                </a:solidFill>
                <a:latin typeface="Calibri"/>
              </a:rPr>
              <a:t>— so the stated 'P10–P90' range matches what actually happens, not just theory.</a:t>
            </a:r>
          </a:p>
        </p:txBody>
      </p:sp>
      <p:sp>
        <p:nvSpPr>
          <p:cNvPr id="7" name="Rectangle 6"/>
          <p:cNvSpPr/>
          <p:nvPr/>
        </p:nvSpPr>
        <p:spPr>
          <a:xfrm>
            <a:off x="7223760" y="1737360"/>
            <a:ext cx="4389120" cy="40233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79" y="1965960"/>
            <a:ext cx="3840480" cy="457200"/>
          </a:xfrm>
          <a:prstGeom prst="rect">
            <a:avLst/>
          </a:prstGeom>
          <a:noFill/>
        </p:spPr>
        <p:txBody>
          <a:bodyPr wrap="square" anchor="t">
            <a:spAutoFit/>
          </a:bodyPr>
          <a:lstStyle/>
          <a:p>
            <a:pPr algn="l">
              <a:lnSpc>
                <a:spcPct val="105000"/>
              </a:lnSpc>
              <a:spcAft>
                <a:spcPts val="600"/>
              </a:spcAft>
            </a:pPr>
            <a:r>
              <a:rPr sz="1300" b="1">
                <a:solidFill>
                  <a:srgbClr val="FF6A13"/>
                </a:solidFill>
                <a:latin typeface="Calibri"/>
              </a:rPr>
              <a:t>30-DAY FORECAST</a:t>
            </a:r>
          </a:p>
        </p:txBody>
      </p:sp>
      <p:sp>
        <p:nvSpPr>
          <p:cNvPr id="9" name="TextBox 8"/>
          <p:cNvSpPr txBox="1"/>
          <p:nvPr/>
        </p:nvSpPr>
        <p:spPr>
          <a:xfrm>
            <a:off x="7498079" y="2423160"/>
            <a:ext cx="3840480" cy="914400"/>
          </a:xfrm>
          <a:prstGeom prst="rect">
            <a:avLst/>
          </a:prstGeom>
          <a:noFill/>
        </p:spPr>
        <p:txBody>
          <a:bodyPr wrap="square" anchor="t">
            <a:spAutoFit/>
          </a:bodyPr>
          <a:lstStyle/>
          <a:p>
            <a:pPr algn="l">
              <a:lnSpc>
                <a:spcPct val="105000"/>
              </a:lnSpc>
              <a:spcAft>
                <a:spcPts val="600"/>
              </a:spcAft>
            </a:pPr>
            <a:r>
              <a:rPr sz="4000" b="1">
                <a:solidFill>
                  <a:srgbClr val="0F172A"/>
                </a:solidFill>
                <a:latin typeface="Calibri"/>
              </a:rPr>
              <a:t>$211,933</a:t>
            </a:r>
          </a:p>
          <a:p>
            <a:pPr algn="l">
              <a:lnSpc>
                <a:spcPct val="105000"/>
              </a:lnSpc>
              <a:spcAft>
                <a:spcPts val="600"/>
              </a:spcAft>
            </a:pPr>
            <a:r>
              <a:rPr sz="1400" b="0">
                <a:solidFill>
                  <a:srgbClr val="64748B"/>
                </a:solidFill>
                <a:latin typeface="Calibri"/>
              </a:rPr>
              <a:t>most-likely revenue (P50)</a:t>
            </a:r>
          </a:p>
        </p:txBody>
      </p:sp>
      <p:sp>
        <p:nvSpPr>
          <p:cNvPr id="10" name="Rectangle 9"/>
          <p:cNvSpPr/>
          <p:nvPr/>
        </p:nvSpPr>
        <p:spPr>
          <a:xfrm>
            <a:off x="7498079" y="3749039"/>
            <a:ext cx="3840480" cy="4572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95360" y="3749039"/>
            <a:ext cx="1463040" cy="457200"/>
          </a:xfrm>
          <a:prstGeom prst="rect">
            <a:avLst/>
          </a:prstGeom>
          <a:solidFill>
            <a:srgbClr val="FF6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79" y="4297680"/>
            <a:ext cx="3840480" cy="1280160"/>
          </a:xfrm>
          <a:prstGeom prst="rect">
            <a:avLst/>
          </a:prstGeom>
          <a:noFill/>
        </p:spPr>
        <p:txBody>
          <a:bodyPr wrap="square" anchor="t">
            <a:spAutoFit/>
          </a:bodyPr>
          <a:lstStyle/>
          <a:p>
            <a:pPr algn="l">
              <a:lnSpc>
                <a:spcPct val="120000"/>
              </a:lnSpc>
              <a:spcAft>
                <a:spcPts val="600"/>
              </a:spcAft>
            </a:pPr>
            <a:r>
              <a:rPr sz="1600" b="1">
                <a:solidFill>
                  <a:srgbClr val="334155"/>
                </a:solidFill>
                <a:latin typeface="Calibri"/>
              </a:rPr>
              <a:t>Honest range:  $133K  →  $340K</a:t>
            </a:r>
          </a:p>
          <a:p>
            <a:pPr algn="l">
              <a:lnSpc>
                <a:spcPct val="120000"/>
              </a:lnSpc>
              <a:spcAft>
                <a:spcPts val="600"/>
              </a:spcAft>
            </a:pPr>
            <a:r>
              <a:rPr sz="1600" b="1">
                <a:solidFill>
                  <a:srgbClr val="334155"/>
                </a:solidFill>
                <a:latin typeface="Calibri"/>
              </a:rPr>
              <a:t>Blended ROAS  ≈  3.3×</a:t>
            </a:r>
          </a:p>
          <a:p>
            <a:pPr algn="l">
              <a:lnSpc>
                <a:spcPct val="120000"/>
              </a:lnSpc>
              <a:spcAft>
                <a:spcPts val="600"/>
              </a:spcAft>
            </a:pPr>
            <a:r>
              <a:rPr sz="1400" b="0">
                <a:solidFill>
                  <a:srgbClr val="64748B"/>
                </a:solidFill>
                <a:latin typeface="Calibri"/>
              </a:rPr>
              <a:t>“We're not guessing one number — we're telling you the spread.”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50800"/>
          </a:xfrm>
          <a:prstGeom prst="rect">
            <a:avLst/>
          </a:prstGeom>
          <a:solidFill>
            <a:srgbClr val="FF6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10972800" cy="365760"/>
          </a:xfrm>
          <a:prstGeom prst="rect">
            <a:avLst/>
          </a:prstGeom>
          <a:noFill/>
        </p:spPr>
        <p:txBody>
          <a:bodyPr wrap="square" anchor="t">
            <a:spAutoFit/>
          </a:bodyPr>
          <a:lstStyle/>
          <a:p>
            <a:pPr algn="l">
              <a:lnSpc>
                <a:spcPct val="105000"/>
              </a:lnSpc>
              <a:spcAft>
                <a:spcPts val="600"/>
              </a:spcAft>
            </a:pPr>
            <a:r>
              <a:rPr sz="1200" b="1">
                <a:solidFill>
                  <a:srgbClr val="FF6A13"/>
                </a:solidFill>
                <a:latin typeface="Calibri"/>
              </a:rPr>
              <a:t>FEATURE — BUDGET SIMULATOR</a:t>
            </a:r>
          </a:p>
        </p:txBody>
      </p:sp>
      <p:sp>
        <p:nvSpPr>
          <p:cNvPr id="5" name="TextBox 4"/>
          <p:cNvSpPr txBox="1"/>
          <p:nvPr/>
        </p:nvSpPr>
        <p:spPr>
          <a:xfrm>
            <a:off x="548640" y="475488"/>
            <a:ext cx="11064240" cy="685800"/>
          </a:xfrm>
          <a:prstGeom prst="rect">
            <a:avLst/>
          </a:prstGeom>
          <a:noFill/>
        </p:spPr>
        <p:txBody>
          <a:bodyPr wrap="square" anchor="t">
            <a:spAutoFit/>
          </a:bodyPr>
          <a:lstStyle/>
          <a:p>
            <a:pPr algn="l">
              <a:lnSpc>
                <a:spcPct val="105000"/>
              </a:lnSpc>
              <a:spcAft>
                <a:spcPts val="600"/>
              </a:spcAft>
            </a:pPr>
            <a:r>
              <a:rPr sz="2800" b="1">
                <a:solidFill>
                  <a:srgbClr val="FFFFFF"/>
                </a:solidFill>
                <a:latin typeface="Calibri"/>
              </a:rPr>
              <a:t>The 'what if I spend more?' answer, instantly</a:t>
            </a:r>
          </a:p>
        </p:txBody>
      </p:sp>
      <p:sp>
        <p:nvSpPr>
          <p:cNvPr id="6" name="TextBox 5"/>
          <p:cNvSpPr txBox="1"/>
          <p:nvPr/>
        </p:nvSpPr>
        <p:spPr>
          <a:xfrm>
            <a:off x="548640" y="1600200"/>
            <a:ext cx="6400800" cy="4206240"/>
          </a:xfrm>
          <a:prstGeom prst="rect">
            <a:avLst/>
          </a:prstGeom>
          <a:noFill/>
        </p:spPr>
        <p:txBody>
          <a:bodyPr wrap="square">
            <a:spAutoFit/>
          </a:bodyPr>
          <a:lstStyle/>
          <a:p>
            <a:pPr>
              <a:lnSpc>
                <a:spcPct val="108000"/>
              </a:lnSpc>
              <a:spcAft>
                <a:spcPts val="1500"/>
              </a:spcAft>
            </a:pPr>
            <a:r>
              <a:rPr sz="1700" b="1">
                <a:solidFill>
                  <a:srgbClr val="FF6A13"/>
                </a:solidFill>
                <a:latin typeface="Calibri"/>
              </a:rPr>
              <a:t>•  </a:t>
            </a:r>
            <a:r>
              <a:rPr sz="1700" b="1">
                <a:solidFill>
                  <a:srgbClr val="334155"/>
                </a:solidFill>
                <a:latin typeface="Calibri"/>
              </a:rPr>
              <a:t>Drag a channel's spend up or down </a:t>
            </a:r>
            <a:r>
              <a:rPr sz="1700" b="0">
                <a:solidFill>
                  <a:srgbClr val="334155"/>
                </a:solidFill>
                <a:latin typeface="Calibri"/>
              </a:rPr>
              <a:t>— revenue and ROAS update live.</a:t>
            </a:r>
          </a:p>
          <a:p>
            <a:pPr>
              <a:lnSpc>
                <a:spcPct val="108000"/>
              </a:lnSpc>
              <a:spcAft>
                <a:spcPts val="1500"/>
              </a:spcAft>
            </a:pPr>
            <a:r>
              <a:rPr sz="1700" b="1">
                <a:solidFill>
                  <a:srgbClr val="FF6A13"/>
                </a:solidFill>
                <a:latin typeface="Calibri"/>
              </a:rPr>
              <a:t>•  </a:t>
            </a:r>
            <a:r>
              <a:rPr sz="1700" b="1">
                <a:solidFill>
                  <a:srgbClr val="334155"/>
                </a:solidFill>
                <a:latin typeface="Calibri"/>
              </a:rPr>
              <a:t>Response curve bends, it doesn't go straight </a:t>
            </a:r>
            <a:r>
              <a:rPr sz="1700" b="0">
                <a:solidFill>
                  <a:srgbClr val="334155"/>
                </a:solidFill>
                <a:latin typeface="Calibri"/>
              </a:rPr>
              <a:t>— that's diminishing returns: the 10th dollar earns less than the 1st.</a:t>
            </a:r>
          </a:p>
          <a:p>
            <a:pPr>
              <a:lnSpc>
                <a:spcPct val="108000"/>
              </a:lnSpc>
              <a:spcAft>
                <a:spcPts val="1500"/>
              </a:spcAft>
            </a:pPr>
            <a:r>
              <a:rPr sz="1700" b="1">
                <a:solidFill>
                  <a:srgbClr val="FF6A13"/>
                </a:solidFill>
                <a:latin typeface="Calibri"/>
              </a:rPr>
              <a:t>•  </a:t>
            </a:r>
            <a:r>
              <a:rPr sz="1700" b="1">
                <a:solidFill>
                  <a:srgbClr val="334155"/>
                </a:solidFill>
                <a:latin typeface="Calibri"/>
              </a:rPr>
              <a:t>Marginal ROAS on the next dollar </a:t>
            </a:r>
            <a:r>
              <a:rPr sz="1700" b="0">
                <a:solidFill>
                  <a:srgbClr val="334155"/>
                </a:solidFill>
                <a:latin typeface="Calibri"/>
              </a:rPr>
              <a:t>— the single most useful number: it tells you WHEN to stop scaling spend.</a:t>
            </a:r>
          </a:p>
          <a:p>
            <a:pPr>
              <a:lnSpc>
                <a:spcPct val="108000"/>
              </a:lnSpc>
              <a:spcAft>
                <a:spcPts val="1500"/>
              </a:spcAft>
            </a:pPr>
            <a:r>
              <a:rPr sz="1700" b="1">
                <a:solidFill>
                  <a:srgbClr val="FF6A13"/>
                </a:solidFill>
                <a:latin typeface="Calibri"/>
              </a:rPr>
              <a:t>•  </a:t>
            </a:r>
            <a:r>
              <a:rPr sz="1700" b="1">
                <a:solidFill>
                  <a:srgbClr val="334155"/>
                </a:solidFill>
                <a:latin typeface="Calibri"/>
              </a:rPr>
              <a:t>Grounded in the model, not made up </a:t>
            </a:r>
            <a:r>
              <a:rPr sz="1700" b="0">
                <a:solidFill>
                  <a:srgbClr val="334155"/>
                </a:solidFill>
                <a:latin typeface="Calibri"/>
              </a:rPr>
              <a:t>— the same elasticity that drives the forecast drives the simulation.</a:t>
            </a:r>
          </a:p>
        </p:txBody>
      </p:sp>
      <p:sp>
        <p:nvSpPr>
          <p:cNvPr id="7" name="Rectangle 6"/>
          <p:cNvSpPr/>
          <p:nvPr/>
        </p:nvSpPr>
        <p:spPr>
          <a:xfrm>
            <a:off x="7223760" y="1737360"/>
            <a:ext cx="4389120" cy="40233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79" y="1965960"/>
            <a:ext cx="3840480" cy="457200"/>
          </a:xfrm>
          <a:prstGeom prst="rect">
            <a:avLst/>
          </a:prstGeom>
          <a:noFill/>
        </p:spPr>
        <p:txBody>
          <a:bodyPr wrap="square" anchor="t">
            <a:spAutoFit/>
          </a:bodyPr>
          <a:lstStyle/>
          <a:p>
            <a:pPr algn="l">
              <a:lnSpc>
                <a:spcPct val="105000"/>
              </a:lnSpc>
              <a:spcAft>
                <a:spcPts val="600"/>
              </a:spcAft>
            </a:pPr>
            <a:r>
              <a:rPr sz="1300" b="1">
                <a:solidFill>
                  <a:srgbClr val="FF6A13"/>
                </a:solidFill>
                <a:latin typeface="Calibri"/>
              </a:rPr>
              <a:t>WHY THIS MATTERS</a:t>
            </a:r>
          </a:p>
        </p:txBody>
      </p:sp>
      <p:sp>
        <p:nvSpPr>
          <p:cNvPr id="9" name="TextBox 8"/>
          <p:cNvSpPr txBox="1"/>
          <p:nvPr/>
        </p:nvSpPr>
        <p:spPr>
          <a:xfrm>
            <a:off x="7498079" y="2468880"/>
            <a:ext cx="3840480" cy="3108960"/>
          </a:xfrm>
          <a:prstGeom prst="rect">
            <a:avLst/>
          </a:prstGeom>
          <a:noFill/>
        </p:spPr>
        <p:txBody>
          <a:bodyPr wrap="square" anchor="t">
            <a:spAutoFit/>
          </a:bodyPr>
          <a:lstStyle/>
          <a:p>
            <a:pPr algn="l">
              <a:lnSpc>
                <a:spcPct val="120000"/>
              </a:lnSpc>
              <a:spcAft>
                <a:spcPts val="600"/>
              </a:spcAft>
            </a:pPr>
            <a:r>
              <a:rPr sz="1700" b="1">
                <a:solidFill>
                  <a:srgbClr val="0F172A"/>
                </a:solidFill>
                <a:latin typeface="Calibri"/>
              </a:rPr>
              <a:t>Average ROAS says how you did.</a:t>
            </a:r>
          </a:p>
          <a:p>
            <a:pPr algn="l">
              <a:lnSpc>
                <a:spcPct val="120000"/>
              </a:lnSpc>
              <a:spcAft>
                <a:spcPts val="600"/>
              </a:spcAft>
            </a:pPr>
            <a:r>
              <a:rPr sz="800" b="0">
                <a:solidFill>
                  <a:srgbClr val="334155"/>
                </a:solidFill>
                <a:latin typeface="Calibri"/>
              </a:rPr>
              <a:t/>
            </a:r>
          </a:p>
          <a:p>
            <a:pPr algn="l">
              <a:lnSpc>
                <a:spcPct val="120000"/>
              </a:lnSpc>
              <a:spcAft>
                <a:spcPts val="600"/>
              </a:spcAft>
            </a:pPr>
            <a:r>
              <a:rPr sz="1700" b="1">
                <a:solidFill>
                  <a:srgbClr val="0F172A"/>
                </a:solidFill>
                <a:latin typeface="Calibri"/>
              </a:rPr>
              <a:t>Marginal ROAS says what to do NEXT.</a:t>
            </a:r>
          </a:p>
          <a:p>
            <a:pPr algn="l">
              <a:lnSpc>
                <a:spcPct val="120000"/>
              </a:lnSpc>
              <a:spcAft>
                <a:spcPts val="600"/>
              </a:spcAft>
            </a:pPr>
            <a:r>
              <a:rPr sz="800" b="0">
                <a:solidFill>
                  <a:srgbClr val="334155"/>
                </a:solidFill>
                <a:latin typeface="Calibri"/>
              </a:rPr>
              <a:t/>
            </a:r>
          </a:p>
          <a:p>
            <a:pPr algn="l">
              <a:lnSpc>
                <a:spcPct val="120000"/>
              </a:lnSpc>
              <a:spcAft>
                <a:spcPts val="600"/>
              </a:spcAft>
            </a:pPr>
            <a:r>
              <a:rPr sz="1500" b="0">
                <a:solidFill>
                  <a:srgbClr val="334155"/>
                </a:solidFill>
                <a:latin typeface="Calibri"/>
              </a:rPr>
              <a:t>When marginal ROAS drops below your target, that's the signal to stop pouring money in — before the CFO has to.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50800"/>
          </a:xfrm>
          <a:prstGeom prst="rect">
            <a:avLst/>
          </a:prstGeom>
          <a:solidFill>
            <a:srgbClr val="FF6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10972800" cy="365760"/>
          </a:xfrm>
          <a:prstGeom prst="rect">
            <a:avLst/>
          </a:prstGeom>
          <a:noFill/>
        </p:spPr>
        <p:txBody>
          <a:bodyPr wrap="square" anchor="t">
            <a:spAutoFit/>
          </a:bodyPr>
          <a:lstStyle/>
          <a:p>
            <a:pPr algn="l">
              <a:lnSpc>
                <a:spcPct val="105000"/>
              </a:lnSpc>
              <a:spcAft>
                <a:spcPts val="600"/>
              </a:spcAft>
            </a:pPr>
            <a:r>
              <a:rPr sz="1200" b="1">
                <a:solidFill>
                  <a:srgbClr val="FF6A13"/>
                </a:solidFill>
                <a:latin typeface="Calibri"/>
              </a:rPr>
              <a:t>FEATURE — AI INSIGHTS</a:t>
            </a:r>
          </a:p>
        </p:txBody>
      </p:sp>
      <p:sp>
        <p:nvSpPr>
          <p:cNvPr id="5" name="TextBox 4"/>
          <p:cNvSpPr txBox="1"/>
          <p:nvPr/>
        </p:nvSpPr>
        <p:spPr>
          <a:xfrm>
            <a:off x="548640" y="475488"/>
            <a:ext cx="11064240" cy="685800"/>
          </a:xfrm>
          <a:prstGeom prst="rect">
            <a:avLst/>
          </a:prstGeom>
          <a:noFill/>
        </p:spPr>
        <p:txBody>
          <a:bodyPr wrap="square" anchor="t">
            <a:spAutoFit/>
          </a:bodyPr>
          <a:lstStyle/>
          <a:p>
            <a:pPr algn="l">
              <a:lnSpc>
                <a:spcPct val="105000"/>
              </a:lnSpc>
              <a:spcAft>
                <a:spcPts val="600"/>
              </a:spcAft>
            </a:pPr>
            <a:r>
              <a:rPr sz="2800" b="1">
                <a:solidFill>
                  <a:srgbClr val="FFFFFF"/>
                </a:solidFill>
                <a:latin typeface="Calibri"/>
              </a:rPr>
              <a:t>The AI narrates the math — it doesn't do the math</a:t>
            </a:r>
          </a:p>
        </p:txBody>
      </p:sp>
      <p:sp>
        <p:nvSpPr>
          <p:cNvPr id="6" name="TextBox 5"/>
          <p:cNvSpPr txBox="1"/>
          <p:nvPr/>
        </p:nvSpPr>
        <p:spPr>
          <a:xfrm>
            <a:off x="548640" y="1600200"/>
            <a:ext cx="6400800" cy="4206240"/>
          </a:xfrm>
          <a:prstGeom prst="rect">
            <a:avLst/>
          </a:prstGeom>
          <a:noFill/>
        </p:spPr>
        <p:txBody>
          <a:bodyPr wrap="square">
            <a:spAutoFit/>
          </a:bodyPr>
          <a:lstStyle/>
          <a:p>
            <a:pPr>
              <a:lnSpc>
                <a:spcPct val="108000"/>
              </a:lnSpc>
              <a:spcAft>
                <a:spcPts val="1400"/>
              </a:spcAft>
            </a:pPr>
            <a:r>
              <a:rPr sz="1700" b="1">
                <a:solidFill>
                  <a:srgbClr val="FF6A13"/>
                </a:solidFill>
                <a:latin typeface="Calibri"/>
              </a:rPr>
              <a:t>•  </a:t>
            </a:r>
            <a:r>
              <a:rPr sz="1700" b="1">
                <a:solidFill>
                  <a:srgbClr val="334155"/>
                </a:solidFill>
                <a:latin typeface="Calibri"/>
              </a:rPr>
              <a:t>Drivers computed deterministically </a:t>
            </a:r>
            <a:r>
              <a:rPr sz="1700" b="0">
                <a:solidFill>
                  <a:srgbClr val="334155"/>
                </a:solidFill>
                <a:latin typeface="Calibri"/>
              </a:rPr>
              <a:t>— how much of the change is seasonality vs. trend vs. spend &amp; mix. Pure math, from the model internals.</a:t>
            </a:r>
          </a:p>
          <a:p>
            <a:pPr>
              <a:lnSpc>
                <a:spcPct val="108000"/>
              </a:lnSpc>
              <a:spcAft>
                <a:spcPts val="1400"/>
              </a:spcAft>
            </a:pPr>
            <a:r>
              <a:rPr sz="1700" b="1">
                <a:solidFill>
                  <a:srgbClr val="FF6A13"/>
                </a:solidFill>
                <a:latin typeface="Calibri"/>
              </a:rPr>
              <a:t>•  </a:t>
            </a:r>
            <a:r>
              <a:rPr sz="1700" b="1">
                <a:solidFill>
                  <a:srgbClr val="334155"/>
                </a:solidFill>
                <a:latin typeface="Calibri"/>
              </a:rPr>
              <a:t>The LLM only writes it up </a:t>
            </a:r>
            <a:r>
              <a:rPr sz="1700" b="0">
                <a:solidFill>
                  <a:srgbClr val="334155"/>
                </a:solidFill>
                <a:latin typeface="Calibri"/>
              </a:rPr>
              <a:t>— it turns correct numbers into a clear executive briefing, plus a ROAS watch-list and budget recommendations.</a:t>
            </a:r>
          </a:p>
          <a:p>
            <a:pPr>
              <a:lnSpc>
                <a:spcPct val="108000"/>
              </a:lnSpc>
              <a:spcAft>
                <a:spcPts val="1400"/>
              </a:spcAft>
            </a:pPr>
            <a:r>
              <a:rPr sz="1700" b="1">
                <a:solidFill>
                  <a:srgbClr val="FF6A13"/>
                </a:solidFill>
                <a:latin typeface="Calibri"/>
              </a:rPr>
              <a:t>•  </a:t>
            </a:r>
            <a:r>
              <a:rPr sz="1700" b="1">
                <a:solidFill>
                  <a:srgbClr val="334155"/>
                </a:solidFill>
                <a:latin typeface="Calibri"/>
              </a:rPr>
              <a:t>Grounded &amp; safe by design </a:t>
            </a:r>
            <a:r>
              <a:rPr sz="1700" b="0">
                <a:solidFill>
                  <a:srgbClr val="334155"/>
                </a:solidFill>
                <a:latin typeface="Calibri"/>
              </a:rPr>
              <a:t>— the model never invents figures; it's constrained to the numbers it's handed.</a:t>
            </a:r>
          </a:p>
          <a:p>
            <a:pPr>
              <a:lnSpc>
                <a:spcPct val="108000"/>
              </a:lnSpc>
              <a:spcAft>
                <a:spcPts val="1400"/>
              </a:spcAft>
            </a:pPr>
            <a:r>
              <a:rPr sz="1700" b="1">
                <a:solidFill>
                  <a:srgbClr val="FF6A13"/>
                </a:solidFill>
                <a:latin typeface="Calibri"/>
              </a:rPr>
              <a:t>•  </a:t>
            </a:r>
            <a:r>
              <a:rPr sz="1700" b="1">
                <a:solidFill>
                  <a:srgbClr val="334155"/>
                </a:solidFill>
                <a:latin typeface="Calibri"/>
              </a:rPr>
              <a:t>Never breaks </a:t>
            </a:r>
            <a:r>
              <a:rPr sz="1700" b="0">
                <a:solidFill>
                  <a:srgbClr val="334155"/>
                </a:solidFill>
                <a:latin typeface="Calibri"/>
              </a:rPr>
              <a:t>— no API key, no internet, rate-limited? It silently falls back to an offline template. Same insight, plainer prose.</a:t>
            </a:r>
          </a:p>
        </p:txBody>
      </p:sp>
      <p:sp>
        <p:nvSpPr>
          <p:cNvPr id="7" name="Rectangle 6"/>
          <p:cNvSpPr/>
          <p:nvPr/>
        </p:nvSpPr>
        <p:spPr>
          <a:xfrm>
            <a:off x="7223760" y="1737360"/>
            <a:ext cx="4389120" cy="402336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79" y="1965960"/>
            <a:ext cx="3840480" cy="457200"/>
          </a:xfrm>
          <a:prstGeom prst="rect">
            <a:avLst/>
          </a:prstGeom>
          <a:noFill/>
        </p:spPr>
        <p:txBody>
          <a:bodyPr wrap="square" anchor="t">
            <a:spAutoFit/>
          </a:bodyPr>
          <a:lstStyle/>
          <a:p>
            <a:pPr algn="l">
              <a:lnSpc>
                <a:spcPct val="105000"/>
              </a:lnSpc>
              <a:spcAft>
                <a:spcPts val="600"/>
              </a:spcAft>
            </a:pPr>
            <a:r>
              <a:rPr sz="1300" b="1">
                <a:solidFill>
                  <a:srgbClr val="FF6A13"/>
                </a:solidFill>
                <a:latin typeface="Calibri"/>
              </a:rPr>
              <a:t>THE KEY DISTINCTION</a:t>
            </a:r>
          </a:p>
        </p:txBody>
      </p:sp>
      <p:sp>
        <p:nvSpPr>
          <p:cNvPr id="9" name="TextBox 8"/>
          <p:cNvSpPr txBox="1"/>
          <p:nvPr/>
        </p:nvSpPr>
        <p:spPr>
          <a:xfrm>
            <a:off x="7498079" y="2514600"/>
            <a:ext cx="3840480" cy="2926080"/>
          </a:xfrm>
          <a:prstGeom prst="rect">
            <a:avLst/>
          </a:prstGeom>
          <a:noFill/>
        </p:spPr>
        <p:txBody>
          <a:bodyPr wrap="square" anchor="t">
            <a:spAutoFit/>
          </a:bodyPr>
          <a:lstStyle/>
          <a:p>
            <a:pPr algn="l">
              <a:lnSpc>
                <a:spcPct val="120000"/>
              </a:lnSpc>
              <a:spcAft>
                <a:spcPts val="600"/>
              </a:spcAft>
            </a:pPr>
            <a:r>
              <a:rPr sz="2200" b="1">
                <a:solidFill>
                  <a:srgbClr val="FFFFFF"/>
                </a:solidFill>
                <a:latin typeface="Calibri"/>
              </a:rPr>
              <a:t>Math first. Always.</a:t>
            </a:r>
          </a:p>
          <a:p>
            <a:pPr algn="l">
              <a:lnSpc>
                <a:spcPct val="120000"/>
              </a:lnSpc>
              <a:spcAft>
                <a:spcPts val="600"/>
              </a:spcAft>
            </a:pPr>
            <a:r>
              <a:rPr sz="1000" b="0">
                <a:solidFill>
                  <a:srgbClr val="FFFFFF"/>
                </a:solidFill>
                <a:latin typeface="Calibri"/>
              </a:rPr>
              <a:t/>
            </a:r>
          </a:p>
          <a:p>
            <a:pPr algn="l">
              <a:lnSpc>
                <a:spcPct val="120000"/>
              </a:lnSpc>
              <a:spcAft>
                <a:spcPts val="600"/>
              </a:spcAft>
            </a:pPr>
            <a:r>
              <a:rPr sz="1600" b="0">
                <a:solidFill>
                  <a:srgbClr val="CBD5E1"/>
                </a:solidFill>
                <a:latin typeface="Calibri"/>
              </a:rPr>
              <a:t>The forecast does NOT depend on the LLM. The LLM is the narrator, not the analyst.</a:t>
            </a:r>
          </a:p>
          <a:p>
            <a:pPr algn="l">
              <a:lnSpc>
                <a:spcPct val="120000"/>
              </a:lnSpc>
              <a:spcAft>
                <a:spcPts val="600"/>
              </a:spcAft>
            </a:pPr>
            <a:r>
              <a:rPr sz="800" b="0">
                <a:solidFill>
                  <a:srgbClr val="FFFFFF"/>
                </a:solidFill>
                <a:latin typeface="Calibri"/>
              </a:rPr>
              <a:t/>
            </a:r>
          </a:p>
          <a:p>
            <a:pPr algn="l">
              <a:lnSpc>
                <a:spcPct val="120000"/>
              </a:lnSpc>
              <a:spcAft>
                <a:spcPts val="600"/>
              </a:spcAft>
            </a:pPr>
            <a:r>
              <a:rPr sz="1500" b="0">
                <a:solidFill>
                  <a:srgbClr val="64748B"/>
                </a:solidFill>
                <a:latin typeface="Calibri"/>
              </a:rPr>
              <a:t>Works with OpenAI, Gemini, or Anthropic — auto-detected from whichever key is present.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50800"/>
          </a:xfrm>
          <a:prstGeom prst="rect">
            <a:avLst/>
          </a:prstGeom>
          <a:solidFill>
            <a:srgbClr val="FF6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10972800" cy="365760"/>
          </a:xfrm>
          <a:prstGeom prst="rect">
            <a:avLst/>
          </a:prstGeom>
          <a:noFill/>
        </p:spPr>
        <p:txBody>
          <a:bodyPr wrap="square" anchor="t">
            <a:spAutoFit/>
          </a:bodyPr>
          <a:lstStyle/>
          <a:p>
            <a:pPr algn="l">
              <a:lnSpc>
                <a:spcPct val="105000"/>
              </a:lnSpc>
              <a:spcAft>
                <a:spcPts val="600"/>
              </a:spcAft>
            </a:pPr>
            <a:r>
              <a:rPr sz="1200" b="1">
                <a:solidFill>
                  <a:srgbClr val="FF6A13"/>
                </a:solidFill>
                <a:latin typeface="Calibri"/>
              </a:rPr>
              <a:t>ENGINEERING</a:t>
            </a:r>
          </a:p>
        </p:txBody>
      </p:sp>
      <p:sp>
        <p:nvSpPr>
          <p:cNvPr id="5" name="TextBox 4"/>
          <p:cNvSpPr txBox="1"/>
          <p:nvPr/>
        </p:nvSpPr>
        <p:spPr>
          <a:xfrm>
            <a:off x="548640" y="475488"/>
            <a:ext cx="11064240" cy="685800"/>
          </a:xfrm>
          <a:prstGeom prst="rect">
            <a:avLst/>
          </a:prstGeom>
          <a:noFill/>
        </p:spPr>
        <p:txBody>
          <a:bodyPr wrap="square" anchor="t">
            <a:spAutoFit/>
          </a:bodyPr>
          <a:lstStyle/>
          <a:p>
            <a:pPr algn="l">
              <a:lnSpc>
                <a:spcPct val="105000"/>
              </a:lnSpc>
              <a:spcAft>
                <a:spcPts val="600"/>
              </a:spcAft>
            </a:pPr>
            <a:r>
              <a:rPr sz="2800" b="1">
                <a:solidFill>
                  <a:srgbClr val="FFFFFF"/>
                </a:solidFill>
                <a:latin typeface="Calibri"/>
              </a:rPr>
              <a:t>Built to be trusted — and scored automatically</a:t>
            </a:r>
          </a:p>
        </p:txBody>
      </p:sp>
      <p:sp>
        <p:nvSpPr>
          <p:cNvPr id="6" name="TextBox 5"/>
          <p:cNvSpPr txBox="1"/>
          <p:nvPr/>
        </p:nvSpPr>
        <p:spPr>
          <a:xfrm>
            <a:off x="548640" y="1645920"/>
            <a:ext cx="5486400" cy="4023360"/>
          </a:xfrm>
          <a:prstGeom prst="rect">
            <a:avLst/>
          </a:prstGeom>
          <a:noFill/>
        </p:spPr>
        <p:txBody>
          <a:bodyPr wrap="square">
            <a:spAutoFit/>
          </a:bodyPr>
          <a:lstStyle/>
          <a:p>
            <a:pPr>
              <a:lnSpc>
                <a:spcPct val="108000"/>
              </a:lnSpc>
              <a:spcAft>
                <a:spcPts val="1600"/>
              </a:spcAft>
            </a:pPr>
            <a:r>
              <a:rPr sz="1600" b="1">
                <a:solidFill>
                  <a:srgbClr val="FF6A13"/>
                </a:solidFill>
                <a:latin typeface="Calibri"/>
              </a:rPr>
              <a:t>•  </a:t>
            </a:r>
            <a:r>
              <a:rPr sz="1600" b="1">
                <a:solidFill>
                  <a:srgbClr val="334155"/>
                </a:solidFill>
                <a:latin typeface="Calibri"/>
              </a:rPr>
              <a:t>Single command </a:t>
            </a:r>
            <a:r>
              <a:rPr sz="1600" b="0">
                <a:solidFill>
                  <a:srgbClr val="334155"/>
                </a:solidFill>
                <a:latin typeface="Calibri"/>
              </a:rPr>
              <a:t>— ./run.sh, one entry point, end to end.</a:t>
            </a:r>
          </a:p>
          <a:p>
            <a:pPr>
              <a:lnSpc>
                <a:spcPct val="108000"/>
              </a:lnSpc>
              <a:spcAft>
                <a:spcPts val="1600"/>
              </a:spcAft>
            </a:pPr>
            <a:r>
              <a:rPr sz="1600" b="1">
                <a:solidFill>
                  <a:srgbClr val="FF6A13"/>
                </a:solidFill>
                <a:latin typeface="Calibri"/>
              </a:rPr>
              <a:t>•  </a:t>
            </a:r>
            <a:r>
              <a:rPr sz="1600" b="1">
                <a:solidFill>
                  <a:srgbClr val="334155"/>
                </a:solidFill>
                <a:latin typeface="Calibri"/>
              </a:rPr>
              <a:t>Fully offline </a:t>
            </a:r>
            <a:r>
              <a:rPr sz="1600" b="0">
                <a:solidFill>
                  <a:srgbClr val="334155"/>
                </a:solidFill>
                <a:latin typeface="Calibri"/>
              </a:rPr>
              <a:t>— zero network calls at run time; nothing to download.</a:t>
            </a:r>
          </a:p>
          <a:p>
            <a:pPr>
              <a:lnSpc>
                <a:spcPct val="108000"/>
              </a:lnSpc>
              <a:spcAft>
                <a:spcPts val="1600"/>
              </a:spcAft>
            </a:pPr>
            <a:r>
              <a:rPr sz="1600" b="1">
                <a:solidFill>
                  <a:srgbClr val="FF6A13"/>
                </a:solidFill>
                <a:latin typeface="Calibri"/>
              </a:rPr>
              <a:t>•  </a:t>
            </a:r>
            <a:r>
              <a:rPr sz="1600" b="1">
                <a:solidFill>
                  <a:srgbClr val="334155"/>
                </a:solidFill>
                <a:latin typeface="Calibri"/>
              </a:rPr>
              <a:t>Deterministic </a:t>
            </a:r>
            <a:r>
              <a:rPr sz="1600" b="0">
                <a:solidFill>
                  <a:srgbClr val="334155"/>
                </a:solidFill>
                <a:latin typeface="Calibri"/>
              </a:rPr>
              <a:t>— all randomness seeded; byte-identical output every run.</a:t>
            </a:r>
          </a:p>
          <a:p>
            <a:pPr>
              <a:lnSpc>
                <a:spcPct val="108000"/>
              </a:lnSpc>
              <a:spcAft>
                <a:spcPts val="1600"/>
              </a:spcAft>
            </a:pPr>
            <a:r>
              <a:rPr sz="1600" b="1">
                <a:solidFill>
                  <a:srgbClr val="FF6A13"/>
                </a:solidFill>
                <a:latin typeface="Calibri"/>
              </a:rPr>
              <a:t>•  </a:t>
            </a:r>
            <a:r>
              <a:rPr sz="1600" b="1">
                <a:solidFill>
                  <a:srgbClr val="334155"/>
                </a:solidFill>
                <a:latin typeface="Calibri"/>
              </a:rPr>
              <a:t>No retraining </a:t>
            </a:r>
            <a:r>
              <a:rPr sz="1600" b="0">
                <a:solidFill>
                  <a:srgbClr val="334155"/>
                </a:solidFill>
                <a:latin typeface="Calibri"/>
              </a:rPr>
              <a:t>— the trained model is committed and just loaded.</a:t>
            </a:r>
          </a:p>
        </p:txBody>
      </p:sp>
      <p:sp>
        <p:nvSpPr>
          <p:cNvPr id="7" name="TextBox 6"/>
          <p:cNvSpPr txBox="1"/>
          <p:nvPr/>
        </p:nvSpPr>
        <p:spPr>
          <a:xfrm>
            <a:off x="6309360" y="1645920"/>
            <a:ext cx="5486400" cy="4023360"/>
          </a:xfrm>
          <a:prstGeom prst="rect">
            <a:avLst/>
          </a:prstGeom>
          <a:noFill/>
        </p:spPr>
        <p:txBody>
          <a:bodyPr wrap="square">
            <a:spAutoFit/>
          </a:bodyPr>
          <a:lstStyle/>
          <a:p>
            <a:pPr>
              <a:lnSpc>
                <a:spcPct val="108000"/>
              </a:lnSpc>
              <a:spcAft>
                <a:spcPts val="1600"/>
              </a:spcAft>
            </a:pPr>
            <a:r>
              <a:rPr sz="1600" b="1">
                <a:solidFill>
                  <a:srgbClr val="FF6A13"/>
                </a:solidFill>
                <a:latin typeface="Calibri"/>
              </a:rPr>
              <a:t>•  </a:t>
            </a:r>
            <a:r>
              <a:rPr sz="1600" b="1">
                <a:solidFill>
                  <a:srgbClr val="334155"/>
                </a:solidFill>
                <a:latin typeface="Calibri"/>
              </a:rPr>
              <a:t>Version-pinned dependencies </a:t>
            </a:r>
            <a:r>
              <a:rPr sz="1600" b="0">
                <a:solidFill>
                  <a:srgbClr val="334155"/>
                </a:solidFill>
                <a:latin typeface="Calibri"/>
              </a:rPr>
              <a:t>— reproducible on any clean machine.</a:t>
            </a:r>
          </a:p>
          <a:p>
            <a:pPr>
              <a:lnSpc>
                <a:spcPct val="108000"/>
              </a:lnSpc>
              <a:spcAft>
                <a:spcPts val="1600"/>
              </a:spcAft>
            </a:pPr>
            <a:r>
              <a:rPr sz="1600" b="1">
                <a:solidFill>
                  <a:srgbClr val="FF6A13"/>
                </a:solidFill>
                <a:latin typeface="Calibri"/>
              </a:rPr>
              <a:t>•  </a:t>
            </a:r>
            <a:r>
              <a:rPr sz="1600" b="1">
                <a:solidFill>
                  <a:srgbClr val="334155"/>
                </a:solidFill>
                <a:latin typeface="Calibri"/>
              </a:rPr>
              <a:t>Schema-robust </a:t>
            </a:r>
            <a:r>
              <a:rPr sz="1600" b="0">
                <a:solidFill>
                  <a:srgbClr val="334155"/>
                </a:solidFill>
                <a:latin typeface="Calibri"/>
              </a:rPr>
              <a:t>— reads whatever data is dropped in, by column signature.</a:t>
            </a:r>
          </a:p>
          <a:p>
            <a:pPr>
              <a:lnSpc>
                <a:spcPct val="108000"/>
              </a:lnSpc>
              <a:spcAft>
                <a:spcPts val="1600"/>
              </a:spcAft>
            </a:pPr>
            <a:r>
              <a:rPr sz="1600" b="1">
                <a:solidFill>
                  <a:srgbClr val="FF6A13"/>
                </a:solidFill>
                <a:latin typeface="Calibri"/>
              </a:rPr>
              <a:t>•  </a:t>
            </a:r>
            <a:r>
              <a:rPr sz="1600" b="1">
                <a:solidFill>
                  <a:srgbClr val="334155"/>
                </a:solidFill>
                <a:latin typeface="Calibri"/>
              </a:rPr>
              <a:t>Null-free, validated output </a:t>
            </a:r>
            <a:r>
              <a:rPr sz="1600" b="0">
                <a:solidFill>
                  <a:srgbClr val="334155"/>
                </a:solidFill>
                <a:latin typeface="Calibri"/>
              </a:rPr>
              <a:t>— exact required format, every run.</a:t>
            </a:r>
          </a:p>
          <a:p>
            <a:pPr>
              <a:lnSpc>
                <a:spcPct val="108000"/>
              </a:lnSpc>
              <a:spcAft>
                <a:spcPts val="1600"/>
              </a:spcAft>
            </a:pPr>
            <a:r>
              <a:rPr sz="1600" b="1">
                <a:solidFill>
                  <a:srgbClr val="FF6A13"/>
                </a:solidFill>
                <a:latin typeface="Calibri"/>
              </a:rPr>
              <a:t>•  </a:t>
            </a:r>
            <a:r>
              <a:rPr sz="1600" b="1">
                <a:solidFill>
                  <a:srgbClr val="334155"/>
                </a:solidFill>
                <a:latin typeface="Calibri"/>
              </a:rPr>
              <a:t>14 automated tests </a:t>
            </a:r>
            <a:r>
              <a:rPr sz="1600" b="0">
                <a:solidFill>
                  <a:srgbClr val="334155"/>
                </a:solidFill>
                <a:latin typeface="Calibri"/>
              </a:rPr>
              <a:t>— schema, coherence, robustness, null-checks: all green.</a:t>
            </a:r>
          </a:p>
        </p:txBody>
      </p:sp>
      <p:sp>
        <p:nvSpPr>
          <p:cNvPr id="8" name="Rectangle 7"/>
          <p:cNvSpPr/>
          <p:nvPr/>
        </p:nvSpPr>
        <p:spPr>
          <a:xfrm>
            <a:off x="548640" y="5623560"/>
            <a:ext cx="11064240" cy="777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5760720"/>
            <a:ext cx="10607040" cy="548640"/>
          </a:xfrm>
          <a:prstGeom prst="rect">
            <a:avLst/>
          </a:prstGeom>
          <a:noFill/>
        </p:spPr>
        <p:txBody>
          <a:bodyPr wrap="square" anchor="t">
            <a:spAutoFit/>
          </a:bodyPr>
          <a:lstStyle/>
          <a:p>
            <a:pPr algn="ctr">
              <a:lnSpc>
                <a:spcPct val="105000"/>
              </a:lnSpc>
              <a:spcAft>
                <a:spcPts val="600"/>
              </a:spcAft>
            </a:pPr>
            <a:r>
              <a:rPr sz="1500" b="1">
                <a:solidFill>
                  <a:srgbClr val="0F172A"/>
                </a:solidFill>
                <a:latin typeface="Calibri"/>
              </a:rPr>
              <a:t>Clone → install → drop in test data → ./run.sh → read predictions.  Verified on a fresh machine that has never seen the project.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50800"/>
          </a:xfrm>
          <a:prstGeom prst="rect">
            <a:avLst/>
          </a:prstGeom>
          <a:solidFill>
            <a:srgbClr val="FF6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10972800" cy="365760"/>
          </a:xfrm>
          <a:prstGeom prst="rect">
            <a:avLst/>
          </a:prstGeom>
          <a:noFill/>
        </p:spPr>
        <p:txBody>
          <a:bodyPr wrap="square" anchor="t">
            <a:spAutoFit/>
          </a:bodyPr>
          <a:lstStyle/>
          <a:p>
            <a:pPr algn="l">
              <a:lnSpc>
                <a:spcPct val="105000"/>
              </a:lnSpc>
              <a:spcAft>
                <a:spcPts val="600"/>
              </a:spcAft>
            </a:pPr>
            <a:r>
              <a:rPr sz="1200" b="1">
                <a:solidFill>
                  <a:srgbClr val="FF6A13"/>
                </a:solidFill>
                <a:latin typeface="Calibri"/>
              </a:rPr>
              <a:t>RESULTS</a:t>
            </a:r>
          </a:p>
        </p:txBody>
      </p:sp>
      <p:sp>
        <p:nvSpPr>
          <p:cNvPr id="5" name="TextBox 4"/>
          <p:cNvSpPr txBox="1"/>
          <p:nvPr/>
        </p:nvSpPr>
        <p:spPr>
          <a:xfrm>
            <a:off x="548640" y="475488"/>
            <a:ext cx="11064240" cy="685800"/>
          </a:xfrm>
          <a:prstGeom prst="rect">
            <a:avLst/>
          </a:prstGeom>
          <a:noFill/>
        </p:spPr>
        <p:txBody>
          <a:bodyPr wrap="square" anchor="t">
            <a:spAutoFit/>
          </a:bodyPr>
          <a:lstStyle/>
          <a:p>
            <a:pPr algn="l">
              <a:lnSpc>
                <a:spcPct val="105000"/>
              </a:lnSpc>
              <a:spcAft>
                <a:spcPts val="600"/>
              </a:spcAft>
            </a:pPr>
            <a:r>
              <a:rPr sz="2800" b="1">
                <a:solidFill>
                  <a:srgbClr val="FFFFFF"/>
                </a:solidFill>
                <a:latin typeface="Calibri"/>
              </a:rPr>
              <a:t>The headline forecast on the sample data</a:t>
            </a:r>
          </a:p>
        </p:txBody>
      </p:sp>
      <p:sp>
        <p:nvSpPr>
          <p:cNvPr id="6" name="Rectangle 5"/>
          <p:cNvSpPr/>
          <p:nvPr/>
        </p:nvSpPr>
        <p:spPr>
          <a:xfrm>
            <a:off x="548640" y="1691640"/>
            <a:ext cx="3611880" cy="288036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91640"/>
            <a:ext cx="3611880" cy="109728"/>
          </a:xfrm>
          <a:prstGeom prst="rect">
            <a:avLst/>
          </a:prstGeom>
          <a:solidFill>
            <a:srgbClr val="FF6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20240"/>
            <a:ext cx="3063240" cy="365760"/>
          </a:xfrm>
          <a:prstGeom prst="rect">
            <a:avLst/>
          </a:prstGeom>
          <a:noFill/>
        </p:spPr>
        <p:txBody>
          <a:bodyPr wrap="square" anchor="t">
            <a:spAutoFit/>
          </a:bodyPr>
          <a:lstStyle/>
          <a:p>
            <a:pPr algn="l">
              <a:lnSpc>
                <a:spcPct val="105000"/>
              </a:lnSpc>
              <a:spcAft>
                <a:spcPts val="600"/>
              </a:spcAft>
            </a:pPr>
            <a:r>
              <a:rPr sz="1500" b="1">
                <a:solidFill>
                  <a:srgbClr val="FF6A13"/>
                </a:solidFill>
                <a:latin typeface="Calibri"/>
              </a:rPr>
              <a:t>30 DAYS</a:t>
            </a:r>
          </a:p>
        </p:txBody>
      </p:sp>
      <p:sp>
        <p:nvSpPr>
          <p:cNvPr id="9" name="TextBox 8"/>
          <p:cNvSpPr txBox="1"/>
          <p:nvPr/>
        </p:nvSpPr>
        <p:spPr>
          <a:xfrm>
            <a:off x="822960" y="2331720"/>
            <a:ext cx="3063240" cy="731520"/>
          </a:xfrm>
          <a:prstGeom prst="rect">
            <a:avLst/>
          </a:prstGeom>
          <a:noFill/>
        </p:spPr>
        <p:txBody>
          <a:bodyPr wrap="square" anchor="t">
            <a:spAutoFit/>
          </a:bodyPr>
          <a:lstStyle/>
          <a:p>
            <a:pPr algn="l">
              <a:lnSpc>
                <a:spcPct val="105000"/>
              </a:lnSpc>
              <a:spcAft>
                <a:spcPts val="600"/>
              </a:spcAft>
            </a:pPr>
            <a:r>
              <a:rPr sz="3400" b="1">
                <a:solidFill>
                  <a:srgbClr val="FFFFFF"/>
                </a:solidFill>
                <a:latin typeface="Calibri"/>
              </a:rPr>
              <a:t>$211,933</a:t>
            </a:r>
          </a:p>
        </p:txBody>
      </p:sp>
      <p:sp>
        <p:nvSpPr>
          <p:cNvPr id="10" name="TextBox 9"/>
          <p:cNvSpPr txBox="1"/>
          <p:nvPr/>
        </p:nvSpPr>
        <p:spPr>
          <a:xfrm>
            <a:off x="822960" y="3063240"/>
            <a:ext cx="3063240" cy="365760"/>
          </a:xfrm>
          <a:prstGeom prst="rect">
            <a:avLst/>
          </a:prstGeom>
          <a:noFill/>
        </p:spPr>
        <p:txBody>
          <a:bodyPr wrap="square" anchor="t">
            <a:spAutoFit/>
          </a:bodyPr>
          <a:lstStyle/>
          <a:p>
            <a:pPr algn="l">
              <a:lnSpc>
                <a:spcPct val="105000"/>
              </a:lnSpc>
              <a:spcAft>
                <a:spcPts val="600"/>
              </a:spcAft>
            </a:pPr>
            <a:r>
              <a:rPr sz="1300" b="0">
                <a:solidFill>
                  <a:srgbClr val="64748B"/>
                </a:solidFill>
                <a:latin typeface="Calibri"/>
              </a:rPr>
              <a:t>most-likely revenue</a:t>
            </a:r>
          </a:p>
        </p:txBody>
      </p:sp>
      <p:sp>
        <p:nvSpPr>
          <p:cNvPr id="11" name="TextBox 10"/>
          <p:cNvSpPr txBox="1"/>
          <p:nvPr/>
        </p:nvSpPr>
        <p:spPr>
          <a:xfrm>
            <a:off x="822960" y="3520440"/>
            <a:ext cx="3063240" cy="457200"/>
          </a:xfrm>
          <a:prstGeom prst="rect">
            <a:avLst/>
          </a:prstGeom>
          <a:noFill/>
        </p:spPr>
        <p:txBody>
          <a:bodyPr wrap="square" anchor="t">
            <a:spAutoFit/>
          </a:bodyPr>
          <a:lstStyle/>
          <a:p>
            <a:pPr algn="l">
              <a:lnSpc>
                <a:spcPct val="105000"/>
              </a:lnSpc>
              <a:spcAft>
                <a:spcPts val="600"/>
              </a:spcAft>
            </a:pPr>
            <a:r>
              <a:rPr sz="1500" b="0">
                <a:solidFill>
                  <a:srgbClr val="E2E8F0"/>
                </a:solidFill>
                <a:latin typeface="Calibri"/>
              </a:rPr>
              <a:t>Range:  $133K – $340K</a:t>
            </a:r>
          </a:p>
        </p:txBody>
      </p:sp>
      <p:sp>
        <p:nvSpPr>
          <p:cNvPr id="12" name="TextBox 11"/>
          <p:cNvSpPr txBox="1"/>
          <p:nvPr/>
        </p:nvSpPr>
        <p:spPr>
          <a:xfrm>
            <a:off x="822960" y="3977639"/>
            <a:ext cx="3063240" cy="457200"/>
          </a:xfrm>
          <a:prstGeom prst="rect">
            <a:avLst/>
          </a:prstGeom>
          <a:noFill/>
        </p:spPr>
        <p:txBody>
          <a:bodyPr wrap="square" anchor="t">
            <a:spAutoFit/>
          </a:bodyPr>
          <a:lstStyle/>
          <a:p>
            <a:pPr algn="l">
              <a:lnSpc>
                <a:spcPct val="105000"/>
              </a:lnSpc>
              <a:spcAft>
                <a:spcPts val="600"/>
              </a:spcAft>
            </a:pPr>
            <a:r>
              <a:rPr sz="1500" b="1">
                <a:solidFill>
                  <a:srgbClr val="E2E8F0"/>
                </a:solidFill>
                <a:latin typeface="Calibri"/>
              </a:rPr>
              <a:t>Blended ROAS  3.30×</a:t>
            </a:r>
          </a:p>
        </p:txBody>
      </p:sp>
      <p:sp>
        <p:nvSpPr>
          <p:cNvPr id="13" name="Rectangle 12"/>
          <p:cNvSpPr/>
          <p:nvPr/>
        </p:nvSpPr>
        <p:spPr>
          <a:xfrm>
            <a:off x="4279392" y="1691640"/>
            <a:ext cx="3611880" cy="288036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79392" y="1691640"/>
            <a:ext cx="3611880" cy="109728"/>
          </a:xfrm>
          <a:prstGeom prst="rect">
            <a:avLst/>
          </a:prstGeom>
          <a:solidFill>
            <a:srgbClr val="FF6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3712" y="1920240"/>
            <a:ext cx="3063240" cy="365760"/>
          </a:xfrm>
          <a:prstGeom prst="rect">
            <a:avLst/>
          </a:prstGeom>
          <a:noFill/>
        </p:spPr>
        <p:txBody>
          <a:bodyPr wrap="square" anchor="t">
            <a:spAutoFit/>
          </a:bodyPr>
          <a:lstStyle/>
          <a:p>
            <a:pPr algn="l">
              <a:lnSpc>
                <a:spcPct val="105000"/>
              </a:lnSpc>
              <a:spcAft>
                <a:spcPts val="600"/>
              </a:spcAft>
            </a:pPr>
            <a:r>
              <a:rPr sz="1500" b="1">
                <a:solidFill>
                  <a:srgbClr val="FF6A13"/>
                </a:solidFill>
                <a:latin typeface="Calibri"/>
              </a:rPr>
              <a:t>60 DAYS</a:t>
            </a:r>
          </a:p>
        </p:txBody>
      </p:sp>
      <p:sp>
        <p:nvSpPr>
          <p:cNvPr id="16" name="TextBox 15"/>
          <p:cNvSpPr txBox="1"/>
          <p:nvPr/>
        </p:nvSpPr>
        <p:spPr>
          <a:xfrm>
            <a:off x="4553712" y="2331720"/>
            <a:ext cx="3063240" cy="731520"/>
          </a:xfrm>
          <a:prstGeom prst="rect">
            <a:avLst/>
          </a:prstGeom>
          <a:noFill/>
        </p:spPr>
        <p:txBody>
          <a:bodyPr wrap="square" anchor="t">
            <a:spAutoFit/>
          </a:bodyPr>
          <a:lstStyle/>
          <a:p>
            <a:pPr algn="l">
              <a:lnSpc>
                <a:spcPct val="105000"/>
              </a:lnSpc>
              <a:spcAft>
                <a:spcPts val="600"/>
              </a:spcAft>
            </a:pPr>
            <a:r>
              <a:rPr sz="3400" b="1">
                <a:solidFill>
                  <a:srgbClr val="FFFFFF"/>
                </a:solidFill>
                <a:latin typeface="Calibri"/>
              </a:rPr>
              <a:t>$448,314</a:t>
            </a:r>
          </a:p>
        </p:txBody>
      </p:sp>
      <p:sp>
        <p:nvSpPr>
          <p:cNvPr id="17" name="TextBox 16"/>
          <p:cNvSpPr txBox="1"/>
          <p:nvPr/>
        </p:nvSpPr>
        <p:spPr>
          <a:xfrm>
            <a:off x="4553712" y="3063240"/>
            <a:ext cx="3063240" cy="365760"/>
          </a:xfrm>
          <a:prstGeom prst="rect">
            <a:avLst/>
          </a:prstGeom>
          <a:noFill/>
        </p:spPr>
        <p:txBody>
          <a:bodyPr wrap="square" anchor="t">
            <a:spAutoFit/>
          </a:bodyPr>
          <a:lstStyle/>
          <a:p>
            <a:pPr algn="l">
              <a:lnSpc>
                <a:spcPct val="105000"/>
              </a:lnSpc>
              <a:spcAft>
                <a:spcPts val="600"/>
              </a:spcAft>
            </a:pPr>
            <a:r>
              <a:rPr sz="1300" b="0">
                <a:solidFill>
                  <a:srgbClr val="64748B"/>
                </a:solidFill>
                <a:latin typeface="Calibri"/>
              </a:rPr>
              <a:t>most-likely revenue</a:t>
            </a:r>
          </a:p>
        </p:txBody>
      </p:sp>
      <p:sp>
        <p:nvSpPr>
          <p:cNvPr id="18" name="TextBox 17"/>
          <p:cNvSpPr txBox="1"/>
          <p:nvPr/>
        </p:nvSpPr>
        <p:spPr>
          <a:xfrm>
            <a:off x="4553712" y="3520440"/>
            <a:ext cx="3063240" cy="457200"/>
          </a:xfrm>
          <a:prstGeom prst="rect">
            <a:avLst/>
          </a:prstGeom>
          <a:noFill/>
        </p:spPr>
        <p:txBody>
          <a:bodyPr wrap="square" anchor="t">
            <a:spAutoFit/>
          </a:bodyPr>
          <a:lstStyle/>
          <a:p>
            <a:pPr algn="l">
              <a:lnSpc>
                <a:spcPct val="105000"/>
              </a:lnSpc>
              <a:spcAft>
                <a:spcPts val="600"/>
              </a:spcAft>
            </a:pPr>
            <a:r>
              <a:rPr sz="1500" b="0">
                <a:solidFill>
                  <a:srgbClr val="E2E8F0"/>
                </a:solidFill>
                <a:latin typeface="Calibri"/>
              </a:rPr>
              <a:t>Range:  $334K – $602K</a:t>
            </a:r>
          </a:p>
        </p:txBody>
      </p:sp>
      <p:sp>
        <p:nvSpPr>
          <p:cNvPr id="19" name="TextBox 18"/>
          <p:cNvSpPr txBox="1"/>
          <p:nvPr/>
        </p:nvSpPr>
        <p:spPr>
          <a:xfrm>
            <a:off x="4553712" y="3977639"/>
            <a:ext cx="3063240" cy="457200"/>
          </a:xfrm>
          <a:prstGeom prst="rect">
            <a:avLst/>
          </a:prstGeom>
          <a:noFill/>
        </p:spPr>
        <p:txBody>
          <a:bodyPr wrap="square" anchor="t">
            <a:spAutoFit/>
          </a:bodyPr>
          <a:lstStyle/>
          <a:p>
            <a:pPr algn="l">
              <a:lnSpc>
                <a:spcPct val="105000"/>
              </a:lnSpc>
              <a:spcAft>
                <a:spcPts val="600"/>
              </a:spcAft>
            </a:pPr>
            <a:r>
              <a:rPr sz="1500" b="1">
                <a:solidFill>
                  <a:srgbClr val="E2E8F0"/>
                </a:solidFill>
                <a:latin typeface="Calibri"/>
              </a:rPr>
              <a:t>Blended ROAS  3.31×</a:t>
            </a:r>
          </a:p>
        </p:txBody>
      </p:sp>
      <p:sp>
        <p:nvSpPr>
          <p:cNvPr id="20" name="Rectangle 19"/>
          <p:cNvSpPr/>
          <p:nvPr/>
        </p:nvSpPr>
        <p:spPr>
          <a:xfrm>
            <a:off x="8010144" y="1691640"/>
            <a:ext cx="3611880" cy="288036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0144" y="1691640"/>
            <a:ext cx="3611880" cy="109728"/>
          </a:xfrm>
          <a:prstGeom prst="rect">
            <a:avLst/>
          </a:prstGeom>
          <a:solidFill>
            <a:srgbClr val="FF6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84464" y="1920240"/>
            <a:ext cx="3063240" cy="365760"/>
          </a:xfrm>
          <a:prstGeom prst="rect">
            <a:avLst/>
          </a:prstGeom>
          <a:noFill/>
        </p:spPr>
        <p:txBody>
          <a:bodyPr wrap="square" anchor="t">
            <a:spAutoFit/>
          </a:bodyPr>
          <a:lstStyle/>
          <a:p>
            <a:pPr algn="l">
              <a:lnSpc>
                <a:spcPct val="105000"/>
              </a:lnSpc>
              <a:spcAft>
                <a:spcPts val="600"/>
              </a:spcAft>
            </a:pPr>
            <a:r>
              <a:rPr sz="1500" b="1">
                <a:solidFill>
                  <a:srgbClr val="FF6A13"/>
                </a:solidFill>
                <a:latin typeface="Calibri"/>
              </a:rPr>
              <a:t>90 DAYS</a:t>
            </a:r>
          </a:p>
        </p:txBody>
      </p:sp>
      <p:sp>
        <p:nvSpPr>
          <p:cNvPr id="23" name="TextBox 22"/>
          <p:cNvSpPr txBox="1"/>
          <p:nvPr/>
        </p:nvSpPr>
        <p:spPr>
          <a:xfrm>
            <a:off x="8284464" y="2331720"/>
            <a:ext cx="3063240" cy="731520"/>
          </a:xfrm>
          <a:prstGeom prst="rect">
            <a:avLst/>
          </a:prstGeom>
          <a:noFill/>
        </p:spPr>
        <p:txBody>
          <a:bodyPr wrap="square" anchor="t">
            <a:spAutoFit/>
          </a:bodyPr>
          <a:lstStyle/>
          <a:p>
            <a:pPr algn="l">
              <a:lnSpc>
                <a:spcPct val="105000"/>
              </a:lnSpc>
              <a:spcAft>
                <a:spcPts val="600"/>
              </a:spcAft>
            </a:pPr>
            <a:r>
              <a:rPr sz="3400" b="1">
                <a:solidFill>
                  <a:srgbClr val="FFFFFF"/>
                </a:solidFill>
                <a:latin typeface="Calibri"/>
              </a:rPr>
              <a:t>$684,687</a:t>
            </a:r>
          </a:p>
        </p:txBody>
      </p:sp>
      <p:sp>
        <p:nvSpPr>
          <p:cNvPr id="24" name="TextBox 23"/>
          <p:cNvSpPr txBox="1"/>
          <p:nvPr/>
        </p:nvSpPr>
        <p:spPr>
          <a:xfrm>
            <a:off x="8284464" y="3063240"/>
            <a:ext cx="3063240" cy="365760"/>
          </a:xfrm>
          <a:prstGeom prst="rect">
            <a:avLst/>
          </a:prstGeom>
          <a:noFill/>
        </p:spPr>
        <p:txBody>
          <a:bodyPr wrap="square" anchor="t">
            <a:spAutoFit/>
          </a:bodyPr>
          <a:lstStyle/>
          <a:p>
            <a:pPr algn="l">
              <a:lnSpc>
                <a:spcPct val="105000"/>
              </a:lnSpc>
              <a:spcAft>
                <a:spcPts val="600"/>
              </a:spcAft>
            </a:pPr>
            <a:r>
              <a:rPr sz="1300" b="0">
                <a:solidFill>
                  <a:srgbClr val="64748B"/>
                </a:solidFill>
                <a:latin typeface="Calibri"/>
              </a:rPr>
              <a:t>most-likely revenue</a:t>
            </a:r>
          </a:p>
        </p:txBody>
      </p:sp>
      <p:sp>
        <p:nvSpPr>
          <p:cNvPr id="25" name="TextBox 24"/>
          <p:cNvSpPr txBox="1"/>
          <p:nvPr/>
        </p:nvSpPr>
        <p:spPr>
          <a:xfrm>
            <a:off x="8284464" y="3520440"/>
            <a:ext cx="3063240" cy="457200"/>
          </a:xfrm>
          <a:prstGeom prst="rect">
            <a:avLst/>
          </a:prstGeom>
          <a:noFill/>
        </p:spPr>
        <p:txBody>
          <a:bodyPr wrap="square" anchor="t">
            <a:spAutoFit/>
          </a:bodyPr>
          <a:lstStyle/>
          <a:p>
            <a:pPr algn="l">
              <a:lnSpc>
                <a:spcPct val="105000"/>
              </a:lnSpc>
              <a:spcAft>
                <a:spcPts val="600"/>
              </a:spcAft>
            </a:pPr>
            <a:r>
              <a:rPr sz="1500" b="0">
                <a:solidFill>
                  <a:srgbClr val="E2E8F0"/>
                </a:solidFill>
                <a:latin typeface="Calibri"/>
              </a:rPr>
              <a:t>Range:  $550K – $851K</a:t>
            </a:r>
          </a:p>
        </p:txBody>
      </p:sp>
      <p:sp>
        <p:nvSpPr>
          <p:cNvPr id="26" name="TextBox 25"/>
          <p:cNvSpPr txBox="1"/>
          <p:nvPr/>
        </p:nvSpPr>
        <p:spPr>
          <a:xfrm>
            <a:off x="8284464" y="3977639"/>
            <a:ext cx="3063240" cy="457200"/>
          </a:xfrm>
          <a:prstGeom prst="rect">
            <a:avLst/>
          </a:prstGeom>
          <a:noFill/>
        </p:spPr>
        <p:txBody>
          <a:bodyPr wrap="square" anchor="t">
            <a:spAutoFit/>
          </a:bodyPr>
          <a:lstStyle/>
          <a:p>
            <a:pPr algn="l">
              <a:lnSpc>
                <a:spcPct val="105000"/>
              </a:lnSpc>
              <a:spcAft>
                <a:spcPts val="600"/>
              </a:spcAft>
            </a:pPr>
            <a:r>
              <a:rPr sz="1500" b="1">
                <a:solidFill>
                  <a:srgbClr val="E2E8F0"/>
                </a:solidFill>
                <a:latin typeface="Calibri"/>
              </a:rPr>
              <a:t>Blended ROAS  3.41×</a:t>
            </a:r>
          </a:p>
        </p:txBody>
      </p:sp>
      <p:sp>
        <p:nvSpPr>
          <p:cNvPr id="27" name="TextBox 26"/>
          <p:cNvSpPr txBox="1"/>
          <p:nvPr/>
        </p:nvSpPr>
        <p:spPr>
          <a:xfrm>
            <a:off x="640080" y="4892040"/>
            <a:ext cx="1463040" cy="548640"/>
          </a:xfrm>
          <a:prstGeom prst="rect">
            <a:avLst/>
          </a:prstGeom>
          <a:noFill/>
        </p:spPr>
        <p:txBody>
          <a:bodyPr wrap="square" anchor="t">
            <a:spAutoFit/>
          </a:bodyPr>
          <a:lstStyle/>
          <a:p>
            <a:pPr algn="l">
              <a:lnSpc>
                <a:spcPct val="105000"/>
              </a:lnSpc>
              <a:spcAft>
                <a:spcPts val="600"/>
              </a:spcAft>
            </a:pPr>
            <a:r>
              <a:rPr sz="2400" b="1">
                <a:solidFill>
                  <a:srgbClr val="FF6A13"/>
                </a:solidFill>
                <a:latin typeface="Calibri"/>
              </a:rPr>
              <a:t>1,404</a:t>
            </a:r>
          </a:p>
        </p:txBody>
      </p:sp>
      <p:sp>
        <p:nvSpPr>
          <p:cNvPr id="28" name="TextBox 27"/>
          <p:cNvSpPr txBox="1"/>
          <p:nvPr/>
        </p:nvSpPr>
        <p:spPr>
          <a:xfrm>
            <a:off x="2194560" y="4983480"/>
            <a:ext cx="4023360" cy="457200"/>
          </a:xfrm>
          <a:prstGeom prst="rect">
            <a:avLst/>
          </a:prstGeom>
          <a:noFill/>
        </p:spPr>
        <p:txBody>
          <a:bodyPr wrap="square" anchor="t">
            <a:spAutoFit/>
          </a:bodyPr>
          <a:lstStyle/>
          <a:p>
            <a:pPr algn="l">
              <a:lnSpc>
                <a:spcPct val="105000"/>
              </a:lnSpc>
              <a:spcAft>
                <a:spcPts val="600"/>
              </a:spcAft>
            </a:pPr>
            <a:r>
              <a:rPr sz="1500" b="0">
                <a:solidFill>
                  <a:srgbClr val="334155"/>
                </a:solidFill>
                <a:latin typeface="Calibri"/>
              </a:rPr>
              <a:t>forecast rows produced</a:t>
            </a:r>
          </a:p>
        </p:txBody>
      </p:sp>
      <p:sp>
        <p:nvSpPr>
          <p:cNvPr id="29" name="TextBox 28"/>
          <p:cNvSpPr txBox="1"/>
          <p:nvPr/>
        </p:nvSpPr>
        <p:spPr>
          <a:xfrm>
            <a:off x="6309360" y="4892040"/>
            <a:ext cx="1463040" cy="548640"/>
          </a:xfrm>
          <a:prstGeom prst="rect">
            <a:avLst/>
          </a:prstGeom>
          <a:noFill/>
        </p:spPr>
        <p:txBody>
          <a:bodyPr wrap="square" anchor="t">
            <a:spAutoFit/>
          </a:bodyPr>
          <a:lstStyle/>
          <a:p>
            <a:pPr algn="l">
              <a:lnSpc>
                <a:spcPct val="105000"/>
              </a:lnSpc>
              <a:spcAft>
                <a:spcPts val="600"/>
              </a:spcAft>
            </a:pPr>
            <a:r>
              <a:rPr sz="2400" b="1">
                <a:solidFill>
                  <a:srgbClr val="FF6A13"/>
                </a:solidFill>
                <a:latin typeface="Calibri"/>
              </a:rPr>
              <a:t>0</a:t>
            </a:r>
          </a:p>
        </p:txBody>
      </p:sp>
      <p:sp>
        <p:nvSpPr>
          <p:cNvPr id="30" name="TextBox 29"/>
          <p:cNvSpPr txBox="1"/>
          <p:nvPr/>
        </p:nvSpPr>
        <p:spPr>
          <a:xfrm>
            <a:off x="7863840" y="4983480"/>
            <a:ext cx="4023360" cy="457200"/>
          </a:xfrm>
          <a:prstGeom prst="rect">
            <a:avLst/>
          </a:prstGeom>
          <a:noFill/>
        </p:spPr>
        <p:txBody>
          <a:bodyPr wrap="square" anchor="t">
            <a:spAutoFit/>
          </a:bodyPr>
          <a:lstStyle/>
          <a:p>
            <a:pPr algn="l">
              <a:lnSpc>
                <a:spcPct val="105000"/>
              </a:lnSpc>
              <a:spcAft>
                <a:spcPts val="600"/>
              </a:spcAft>
            </a:pPr>
            <a:r>
              <a:rPr sz="1500" b="0">
                <a:solidFill>
                  <a:srgbClr val="334155"/>
                </a:solidFill>
                <a:latin typeface="Calibri"/>
              </a:rPr>
              <a:t>nulls in the output</a:t>
            </a:r>
          </a:p>
        </p:txBody>
      </p:sp>
      <p:sp>
        <p:nvSpPr>
          <p:cNvPr id="31" name="TextBox 30"/>
          <p:cNvSpPr txBox="1"/>
          <p:nvPr/>
        </p:nvSpPr>
        <p:spPr>
          <a:xfrm>
            <a:off x="640080" y="5486400"/>
            <a:ext cx="1463040" cy="548640"/>
          </a:xfrm>
          <a:prstGeom prst="rect">
            <a:avLst/>
          </a:prstGeom>
          <a:noFill/>
        </p:spPr>
        <p:txBody>
          <a:bodyPr wrap="square" anchor="t">
            <a:spAutoFit/>
          </a:bodyPr>
          <a:lstStyle/>
          <a:p>
            <a:pPr algn="l">
              <a:lnSpc>
                <a:spcPct val="105000"/>
              </a:lnSpc>
              <a:spcAft>
                <a:spcPts val="600"/>
              </a:spcAft>
            </a:pPr>
            <a:r>
              <a:rPr sz="2400" b="1">
                <a:solidFill>
                  <a:srgbClr val="FF6A13"/>
                </a:solidFill>
                <a:latin typeface="Calibri"/>
              </a:rPr>
              <a:t>4</a:t>
            </a:r>
          </a:p>
        </p:txBody>
      </p:sp>
      <p:sp>
        <p:nvSpPr>
          <p:cNvPr id="32" name="TextBox 31"/>
          <p:cNvSpPr txBox="1"/>
          <p:nvPr/>
        </p:nvSpPr>
        <p:spPr>
          <a:xfrm>
            <a:off x="2194560" y="5577840"/>
            <a:ext cx="4023360" cy="457200"/>
          </a:xfrm>
          <a:prstGeom prst="rect">
            <a:avLst/>
          </a:prstGeom>
          <a:noFill/>
        </p:spPr>
        <p:txBody>
          <a:bodyPr wrap="square" anchor="t">
            <a:spAutoFit/>
          </a:bodyPr>
          <a:lstStyle/>
          <a:p>
            <a:pPr algn="l">
              <a:lnSpc>
                <a:spcPct val="105000"/>
              </a:lnSpc>
              <a:spcAft>
                <a:spcPts val="600"/>
              </a:spcAft>
            </a:pPr>
            <a:r>
              <a:rPr sz="1500" b="0">
                <a:solidFill>
                  <a:srgbClr val="334155"/>
                </a:solidFill>
                <a:latin typeface="Calibri"/>
              </a:rPr>
              <a:t>hierarchy levels: aggregate → channel → type → campaign</a:t>
            </a:r>
          </a:p>
        </p:txBody>
      </p:sp>
      <p:sp>
        <p:nvSpPr>
          <p:cNvPr id="33" name="TextBox 32"/>
          <p:cNvSpPr txBox="1"/>
          <p:nvPr/>
        </p:nvSpPr>
        <p:spPr>
          <a:xfrm>
            <a:off x="6309360" y="5486400"/>
            <a:ext cx="1463040" cy="548640"/>
          </a:xfrm>
          <a:prstGeom prst="rect">
            <a:avLst/>
          </a:prstGeom>
          <a:noFill/>
        </p:spPr>
        <p:txBody>
          <a:bodyPr wrap="square" anchor="t">
            <a:spAutoFit/>
          </a:bodyPr>
          <a:lstStyle/>
          <a:p>
            <a:pPr algn="l">
              <a:lnSpc>
                <a:spcPct val="105000"/>
              </a:lnSpc>
              <a:spcAft>
                <a:spcPts val="600"/>
              </a:spcAft>
            </a:pPr>
            <a:r>
              <a:rPr sz="2400" b="1">
                <a:solidFill>
                  <a:srgbClr val="FF6A13"/>
                </a:solidFill>
                <a:latin typeface="Calibri"/>
              </a:rPr>
              <a:t>14/14</a:t>
            </a:r>
          </a:p>
        </p:txBody>
      </p:sp>
      <p:sp>
        <p:nvSpPr>
          <p:cNvPr id="34" name="TextBox 33"/>
          <p:cNvSpPr txBox="1"/>
          <p:nvPr/>
        </p:nvSpPr>
        <p:spPr>
          <a:xfrm>
            <a:off x="7863840" y="5577840"/>
            <a:ext cx="4023360" cy="457200"/>
          </a:xfrm>
          <a:prstGeom prst="rect">
            <a:avLst/>
          </a:prstGeom>
          <a:noFill/>
        </p:spPr>
        <p:txBody>
          <a:bodyPr wrap="square" anchor="t">
            <a:spAutoFit/>
          </a:bodyPr>
          <a:lstStyle/>
          <a:p>
            <a:pPr algn="l">
              <a:lnSpc>
                <a:spcPct val="105000"/>
              </a:lnSpc>
              <a:spcAft>
                <a:spcPts val="600"/>
              </a:spcAft>
            </a:pPr>
            <a:r>
              <a:rPr sz="1500" b="0">
                <a:solidFill>
                  <a:srgbClr val="334155"/>
                </a:solidFill>
                <a:latin typeface="Calibri"/>
              </a:rPr>
              <a:t>automated tests passing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50800"/>
          </a:xfrm>
          <a:prstGeom prst="rect">
            <a:avLst/>
          </a:prstGeom>
          <a:solidFill>
            <a:srgbClr val="FF6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10972800" cy="365760"/>
          </a:xfrm>
          <a:prstGeom prst="rect">
            <a:avLst/>
          </a:prstGeom>
          <a:noFill/>
        </p:spPr>
        <p:txBody>
          <a:bodyPr wrap="square" anchor="t">
            <a:spAutoFit/>
          </a:bodyPr>
          <a:lstStyle/>
          <a:p>
            <a:pPr algn="l">
              <a:lnSpc>
                <a:spcPct val="105000"/>
              </a:lnSpc>
              <a:spcAft>
                <a:spcPts val="600"/>
              </a:spcAft>
            </a:pPr>
            <a:r>
              <a:rPr sz="1200" b="1">
                <a:solidFill>
                  <a:srgbClr val="FF6A13"/>
                </a:solidFill>
                <a:latin typeface="Calibri"/>
              </a:rPr>
              <a:t>WHY IT WINS</a:t>
            </a:r>
          </a:p>
        </p:txBody>
      </p:sp>
      <p:sp>
        <p:nvSpPr>
          <p:cNvPr id="5" name="TextBox 4"/>
          <p:cNvSpPr txBox="1"/>
          <p:nvPr/>
        </p:nvSpPr>
        <p:spPr>
          <a:xfrm>
            <a:off x="548640" y="475488"/>
            <a:ext cx="11064240" cy="685800"/>
          </a:xfrm>
          <a:prstGeom prst="rect">
            <a:avLst/>
          </a:prstGeom>
          <a:noFill/>
        </p:spPr>
        <p:txBody>
          <a:bodyPr wrap="square" anchor="t">
            <a:spAutoFit/>
          </a:bodyPr>
          <a:lstStyle/>
          <a:p>
            <a:pPr algn="l">
              <a:lnSpc>
                <a:spcPct val="105000"/>
              </a:lnSpc>
              <a:spcAft>
                <a:spcPts val="600"/>
              </a:spcAft>
            </a:pPr>
            <a:r>
              <a:rPr sz="2800" b="1">
                <a:solidFill>
                  <a:srgbClr val="FFFFFF"/>
                </a:solidFill>
                <a:latin typeface="Calibri"/>
              </a:rPr>
              <a:t>Mapped to every judging criterion</a:t>
            </a:r>
          </a:p>
        </p:txBody>
      </p:sp>
      <p:sp>
        <p:nvSpPr>
          <p:cNvPr id="6" name="Rectangle 5"/>
          <p:cNvSpPr/>
          <p:nvPr/>
        </p:nvSpPr>
        <p:spPr>
          <a:xfrm>
            <a:off x="548640" y="1600200"/>
            <a:ext cx="3108960" cy="932688"/>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01368"/>
            <a:ext cx="2743200" cy="640080"/>
          </a:xfrm>
          <a:prstGeom prst="rect">
            <a:avLst/>
          </a:prstGeom>
          <a:noFill/>
        </p:spPr>
        <p:txBody>
          <a:bodyPr wrap="square" anchor="ctr">
            <a:spAutoFit/>
          </a:bodyPr>
          <a:lstStyle/>
          <a:p>
            <a:pPr algn="l">
              <a:lnSpc>
                <a:spcPct val="105000"/>
              </a:lnSpc>
              <a:spcAft>
                <a:spcPts val="600"/>
              </a:spcAft>
            </a:pPr>
            <a:r>
              <a:rPr sz="1600" b="1">
                <a:solidFill>
                  <a:srgbClr val="FFFFFF"/>
                </a:solidFill>
                <a:latin typeface="Calibri"/>
              </a:rPr>
              <a:t>Technical Soundness</a:t>
            </a:r>
          </a:p>
        </p:txBody>
      </p:sp>
      <p:sp>
        <p:nvSpPr>
          <p:cNvPr id="8" name="Rectangle 7"/>
          <p:cNvSpPr/>
          <p:nvPr/>
        </p:nvSpPr>
        <p:spPr>
          <a:xfrm>
            <a:off x="3703320" y="1600200"/>
            <a:ext cx="7909560" cy="93268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86200" y="1709928"/>
            <a:ext cx="7589520" cy="731520"/>
          </a:xfrm>
          <a:prstGeom prst="rect">
            <a:avLst/>
          </a:prstGeom>
          <a:noFill/>
        </p:spPr>
        <p:txBody>
          <a:bodyPr wrap="square" anchor="ctr">
            <a:spAutoFit/>
          </a:bodyPr>
          <a:lstStyle/>
          <a:p>
            <a:pPr algn="l">
              <a:lnSpc>
                <a:spcPct val="110000"/>
              </a:lnSpc>
              <a:spcAft>
                <a:spcPts val="600"/>
              </a:spcAft>
            </a:pPr>
            <a:r>
              <a:rPr sz="1500" b="0">
                <a:solidFill>
                  <a:srgbClr val="334155"/>
                </a:solidFill>
                <a:latin typeface="Calibri"/>
              </a:rPr>
              <a:t>Glass-box structural model, 4,000-path Monte Carlo, split-conformal calibrated intervals, coherent hierarchy.</a:t>
            </a:r>
          </a:p>
        </p:txBody>
      </p:sp>
      <p:sp>
        <p:nvSpPr>
          <p:cNvPr id="10" name="Rectangle 9"/>
          <p:cNvSpPr/>
          <p:nvPr/>
        </p:nvSpPr>
        <p:spPr>
          <a:xfrm>
            <a:off x="548640" y="2624328"/>
            <a:ext cx="3108960" cy="93268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825496"/>
            <a:ext cx="2743200" cy="640080"/>
          </a:xfrm>
          <a:prstGeom prst="rect">
            <a:avLst/>
          </a:prstGeom>
          <a:noFill/>
        </p:spPr>
        <p:txBody>
          <a:bodyPr wrap="square" anchor="ctr">
            <a:spAutoFit/>
          </a:bodyPr>
          <a:lstStyle/>
          <a:p>
            <a:pPr algn="l">
              <a:lnSpc>
                <a:spcPct val="105000"/>
              </a:lnSpc>
              <a:spcAft>
                <a:spcPts val="600"/>
              </a:spcAft>
            </a:pPr>
            <a:r>
              <a:rPr sz="1600" b="1">
                <a:solidFill>
                  <a:srgbClr val="FFFFFF"/>
                </a:solidFill>
                <a:latin typeface="Calibri"/>
              </a:rPr>
              <a:t>Practical Relevance</a:t>
            </a:r>
          </a:p>
        </p:txBody>
      </p:sp>
      <p:sp>
        <p:nvSpPr>
          <p:cNvPr id="12" name="Rectangle 11"/>
          <p:cNvSpPr/>
          <p:nvPr/>
        </p:nvSpPr>
        <p:spPr>
          <a:xfrm>
            <a:off x="3703320" y="2624328"/>
            <a:ext cx="7909560" cy="93268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86200" y="2734056"/>
            <a:ext cx="7589520" cy="731520"/>
          </a:xfrm>
          <a:prstGeom prst="rect">
            <a:avLst/>
          </a:prstGeom>
          <a:noFill/>
        </p:spPr>
        <p:txBody>
          <a:bodyPr wrap="square" anchor="ctr">
            <a:spAutoFit/>
          </a:bodyPr>
          <a:lstStyle/>
          <a:p>
            <a:pPr algn="l">
              <a:lnSpc>
                <a:spcPct val="110000"/>
              </a:lnSpc>
              <a:spcAft>
                <a:spcPts val="600"/>
              </a:spcAft>
            </a:pPr>
            <a:r>
              <a:rPr sz="1500" b="0">
                <a:solidFill>
                  <a:srgbClr val="334155"/>
                </a:solidFill>
                <a:latin typeface="Calibri"/>
              </a:rPr>
              <a:t>Answers the real agency question — spend vs. revenue vs. ROAS — with a budget simulator built for planning.</a:t>
            </a:r>
          </a:p>
        </p:txBody>
      </p:sp>
      <p:sp>
        <p:nvSpPr>
          <p:cNvPr id="14" name="Rectangle 13"/>
          <p:cNvSpPr/>
          <p:nvPr/>
        </p:nvSpPr>
        <p:spPr>
          <a:xfrm>
            <a:off x="548640" y="3648456"/>
            <a:ext cx="3108960" cy="932688"/>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849624"/>
            <a:ext cx="2743200" cy="640080"/>
          </a:xfrm>
          <a:prstGeom prst="rect">
            <a:avLst/>
          </a:prstGeom>
          <a:noFill/>
        </p:spPr>
        <p:txBody>
          <a:bodyPr wrap="square" anchor="ctr">
            <a:spAutoFit/>
          </a:bodyPr>
          <a:lstStyle/>
          <a:p>
            <a:pPr algn="l">
              <a:lnSpc>
                <a:spcPct val="105000"/>
              </a:lnSpc>
              <a:spcAft>
                <a:spcPts val="600"/>
              </a:spcAft>
            </a:pPr>
            <a:r>
              <a:rPr sz="1600" b="1">
                <a:solidFill>
                  <a:srgbClr val="FFFFFF"/>
                </a:solidFill>
                <a:latin typeface="Calibri"/>
              </a:rPr>
              <a:t>AI Integration</a:t>
            </a:r>
          </a:p>
        </p:txBody>
      </p:sp>
      <p:sp>
        <p:nvSpPr>
          <p:cNvPr id="16" name="Rectangle 15"/>
          <p:cNvSpPr/>
          <p:nvPr/>
        </p:nvSpPr>
        <p:spPr>
          <a:xfrm>
            <a:off x="3703320" y="3648456"/>
            <a:ext cx="7909560" cy="93268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86200" y="3758184"/>
            <a:ext cx="7589520" cy="731520"/>
          </a:xfrm>
          <a:prstGeom prst="rect">
            <a:avLst/>
          </a:prstGeom>
          <a:noFill/>
        </p:spPr>
        <p:txBody>
          <a:bodyPr wrap="square" anchor="ctr">
            <a:spAutoFit/>
          </a:bodyPr>
          <a:lstStyle/>
          <a:p>
            <a:pPr algn="l">
              <a:lnSpc>
                <a:spcPct val="110000"/>
              </a:lnSpc>
              <a:spcAft>
                <a:spcPts val="600"/>
              </a:spcAft>
            </a:pPr>
            <a:r>
              <a:rPr sz="1500" b="0">
                <a:solidFill>
                  <a:srgbClr val="334155"/>
                </a:solidFill>
                <a:latin typeface="Calibri"/>
              </a:rPr>
              <a:t>Deterministic driver attribution + LLM-narrated briefing; grounded, safe, multi-provider, offline fallback.</a:t>
            </a:r>
          </a:p>
        </p:txBody>
      </p:sp>
      <p:sp>
        <p:nvSpPr>
          <p:cNvPr id="18" name="Rectangle 17"/>
          <p:cNvSpPr/>
          <p:nvPr/>
        </p:nvSpPr>
        <p:spPr>
          <a:xfrm>
            <a:off x="548640" y="4672584"/>
            <a:ext cx="3108960" cy="93268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873752"/>
            <a:ext cx="2743200" cy="640080"/>
          </a:xfrm>
          <a:prstGeom prst="rect">
            <a:avLst/>
          </a:prstGeom>
          <a:noFill/>
        </p:spPr>
        <p:txBody>
          <a:bodyPr wrap="square" anchor="ctr">
            <a:spAutoFit/>
          </a:bodyPr>
          <a:lstStyle/>
          <a:p>
            <a:pPr algn="l">
              <a:lnSpc>
                <a:spcPct val="105000"/>
              </a:lnSpc>
              <a:spcAft>
                <a:spcPts val="600"/>
              </a:spcAft>
            </a:pPr>
            <a:r>
              <a:rPr sz="1600" b="1">
                <a:solidFill>
                  <a:srgbClr val="FFFFFF"/>
                </a:solidFill>
                <a:latin typeface="Calibri"/>
              </a:rPr>
              <a:t>Product Thinking</a:t>
            </a:r>
          </a:p>
        </p:txBody>
      </p:sp>
      <p:sp>
        <p:nvSpPr>
          <p:cNvPr id="20" name="Rectangle 19"/>
          <p:cNvSpPr/>
          <p:nvPr/>
        </p:nvSpPr>
        <p:spPr>
          <a:xfrm>
            <a:off x="3703320" y="4672584"/>
            <a:ext cx="7909560" cy="93268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86200" y="4782312"/>
            <a:ext cx="7589520" cy="731520"/>
          </a:xfrm>
          <a:prstGeom prst="rect">
            <a:avLst/>
          </a:prstGeom>
          <a:noFill/>
        </p:spPr>
        <p:txBody>
          <a:bodyPr wrap="square" anchor="ctr">
            <a:spAutoFit/>
          </a:bodyPr>
          <a:lstStyle/>
          <a:p>
            <a:pPr algn="l">
              <a:lnSpc>
                <a:spcPct val="110000"/>
              </a:lnSpc>
              <a:spcAft>
                <a:spcPts val="600"/>
              </a:spcAft>
            </a:pPr>
            <a:r>
              <a:rPr sz="1500" b="0">
                <a:solidFill>
                  <a:srgbClr val="334155"/>
                </a:solidFill>
                <a:latin typeface="Calibri"/>
              </a:rPr>
              <a:t>4-tab dashboard anyone can use; honest ranges, plain-English explanations, one-command reproducibility.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468880"/>
            <a:ext cx="1554480" cy="63500"/>
          </a:xfrm>
          <a:prstGeom prst="rect">
            <a:avLst/>
          </a:prstGeom>
          <a:solidFill>
            <a:srgbClr val="FF6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63040"/>
            <a:ext cx="10515600" cy="457200"/>
          </a:xfrm>
          <a:prstGeom prst="rect">
            <a:avLst/>
          </a:prstGeom>
          <a:noFill/>
        </p:spPr>
        <p:txBody>
          <a:bodyPr wrap="square" anchor="t">
            <a:spAutoFit/>
          </a:bodyPr>
          <a:lstStyle/>
          <a:p>
            <a:pPr algn="l">
              <a:lnSpc>
                <a:spcPct val="105000"/>
              </a:lnSpc>
              <a:spcAft>
                <a:spcPts val="600"/>
              </a:spcAft>
            </a:pPr>
            <a:r>
              <a:rPr sz="1600" b="1">
                <a:solidFill>
                  <a:srgbClr val="FF6A13"/>
                </a:solidFill>
                <a:latin typeface="Calibri"/>
              </a:rPr>
              <a:t>NOW — LIVE</a:t>
            </a:r>
          </a:p>
        </p:txBody>
      </p:sp>
      <p:sp>
        <p:nvSpPr>
          <p:cNvPr id="5" name="TextBox 4"/>
          <p:cNvSpPr txBox="1"/>
          <p:nvPr/>
        </p:nvSpPr>
        <p:spPr>
          <a:xfrm>
            <a:off x="822960" y="2651760"/>
            <a:ext cx="10607040" cy="914400"/>
          </a:xfrm>
          <a:prstGeom prst="rect">
            <a:avLst/>
          </a:prstGeom>
          <a:noFill/>
        </p:spPr>
        <p:txBody>
          <a:bodyPr wrap="square" anchor="t">
            <a:spAutoFit/>
          </a:bodyPr>
          <a:lstStyle/>
          <a:p>
            <a:pPr algn="l">
              <a:lnSpc>
                <a:spcPct val="105000"/>
              </a:lnSpc>
              <a:spcAft>
                <a:spcPts val="600"/>
              </a:spcAft>
            </a:pPr>
            <a:r>
              <a:rPr sz="5200" b="1">
                <a:solidFill>
                  <a:srgbClr val="FFFFFF"/>
                </a:solidFill>
                <a:latin typeface="Calibri"/>
              </a:rPr>
              <a:t>Live Demo</a:t>
            </a:r>
          </a:p>
        </p:txBody>
      </p:sp>
      <p:sp>
        <p:nvSpPr>
          <p:cNvPr id="6" name="TextBox 5"/>
          <p:cNvSpPr txBox="1"/>
          <p:nvPr/>
        </p:nvSpPr>
        <p:spPr>
          <a:xfrm>
            <a:off x="822960" y="3931920"/>
            <a:ext cx="10515600" cy="2377440"/>
          </a:xfrm>
          <a:prstGeom prst="rect">
            <a:avLst/>
          </a:prstGeom>
          <a:noFill/>
        </p:spPr>
        <p:txBody>
          <a:bodyPr wrap="square">
            <a:spAutoFit/>
          </a:bodyPr>
          <a:lstStyle/>
          <a:p>
            <a:pPr>
              <a:lnSpc>
                <a:spcPct val="108000"/>
              </a:lnSpc>
              <a:spcAft>
                <a:spcPts val="1200"/>
              </a:spcAft>
            </a:pPr>
            <a:r>
              <a:rPr sz="1800" b="1">
                <a:solidFill>
                  <a:srgbClr val="FF6A13"/>
                </a:solidFill>
                <a:latin typeface="Calibri"/>
              </a:rPr>
              <a:t>•  </a:t>
            </a:r>
            <a:r>
              <a:rPr sz="1800" b="1">
                <a:solidFill>
                  <a:srgbClr val="E2E8F0"/>
                </a:solidFill>
                <a:latin typeface="Calibri"/>
              </a:rPr>
              <a:t>Forecast tab </a:t>
            </a:r>
            <a:r>
              <a:rPr sz="1800" b="0">
                <a:solidFill>
                  <a:srgbClr val="E2E8F0"/>
                </a:solidFill>
                <a:latin typeface="Calibri"/>
              </a:rPr>
              <a:t>— the probabilistic range, drill from account down to a single campaign.</a:t>
            </a:r>
          </a:p>
          <a:p>
            <a:pPr>
              <a:lnSpc>
                <a:spcPct val="108000"/>
              </a:lnSpc>
              <a:spcAft>
                <a:spcPts val="1200"/>
              </a:spcAft>
            </a:pPr>
            <a:r>
              <a:rPr sz="1800" b="1">
                <a:solidFill>
                  <a:srgbClr val="FF6A13"/>
                </a:solidFill>
                <a:latin typeface="Calibri"/>
              </a:rPr>
              <a:t>•  </a:t>
            </a:r>
            <a:r>
              <a:rPr sz="1800" b="1">
                <a:solidFill>
                  <a:srgbClr val="E2E8F0"/>
                </a:solidFill>
                <a:latin typeface="Calibri"/>
              </a:rPr>
              <a:t>Budget Simulator </a:t>
            </a:r>
            <a:r>
              <a:rPr sz="1800" b="0">
                <a:solidFill>
                  <a:srgbClr val="E2E8F0"/>
                </a:solidFill>
                <a:latin typeface="Calibri"/>
              </a:rPr>
              <a:t>— drag spend, watch ROAS bend with diminishing returns.</a:t>
            </a:r>
          </a:p>
          <a:p>
            <a:pPr>
              <a:lnSpc>
                <a:spcPct val="108000"/>
              </a:lnSpc>
              <a:spcAft>
                <a:spcPts val="1200"/>
              </a:spcAft>
            </a:pPr>
            <a:r>
              <a:rPr sz="1800" b="1">
                <a:solidFill>
                  <a:srgbClr val="FF6A13"/>
                </a:solidFill>
                <a:latin typeface="Calibri"/>
              </a:rPr>
              <a:t>•  </a:t>
            </a:r>
            <a:r>
              <a:rPr sz="1800" b="1">
                <a:solidFill>
                  <a:srgbClr val="E2E8F0"/>
                </a:solidFill>
                <a:latin typeface="Calibri"/>
              </a:rPr>
              <a:t>AI Insights </a:t>
            </a:r>
            <a:r>
              <a:rPr sz="1800" b="0">
                <a:solidFill>
                  <a:srgbClr val="E2E8F0"/>
                </a:solidFill>
                <a:latin typeface="Calibri"/>
              </a:rPr>
              <a:t>— click Generate, read the plain-English 'why'.</a:t>
            </a:r>
          </a:p>
          <a:p>
            <a:pPr>
              <a:lnSpc>
                <a:spcPct val="108000"/>
              </a:lnSpc>
              <a:spcAft>
                <a:spcPts val="1200"/>
              </a:spcAft>
            </a:pPr>
            <a:r>
              <a:rPr sz="1800" b="1">
                <a:solidFill>
                  <a:srgbClr val="FF6A13"/>
                </a:solidFill>
                <a:latin typeface="Calibri"/>
              </a:rPr>
              <a:t>•  </a:t>
            </a:r>
            <a:r>
              <a:rPr sz="1800" b="1">
                <a:solidFill>
                  <a:srgbClr val="E2E8F0"/>
                </a:solidFill>
                <a:latin typeface="Calibri"/>
              </a:rPr>
              <a:t>Data &amp; Predictions </a:t>
            </a:r>
            <a:r>
              <a:rPr sz="1800" b="0">
                <a:solidFill>
                  <a:srgbClr val="E2E8F0"/>
                </a:solidFill>
                <a:latin typeface="Calibri"/>
              </a:rPr>
              <a:t>— the raw input and the exact exportable output file.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50800"/>
          </a:xfrm>
          <a:prstGeom prst="rect">
            <a:avLst/>
          </a:prstGeom>
          <a:solidFill>
            <a:srgbClr val="FF6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10607040" cy="1463040"/>
          </a:xfrm>
          <a:prstGeom prst="rect">
            <a:avLst/>
          </a:prstGeom>
          <a:noFill/>
        </p:spPr>
        <p:txBody>
          <a:bodyPr wrap="square" anchor="t">
            <a:spAutoFit/>
          </a:bodyPr>
          <a:lstStyle/>
          <a:p>
            <a:pPr algn="l">
              <a:lnSpc>
                <a:spcPct val="105000"/>
              </a:lnSpc>
              <a:spcAft>
                <a:spcPts val="600"/>
              </a:spcAft>
            </a:pPr>
            <a:r>
              <a:rPr sz="4000" b="1">
                <a:solidFill>
                  <a:srgbClr val="FFFFFF"/>
                </a:solidFill>
                <a:latin typeface="Calibri"/>
              </a:rPr>
              <a:t>From fragmented ad data</a:t>
            </a:r>
          </a:p>
          <a:p>
            <a:pPr algn="l">
              <a:lnSpc>
                <a:spcPct val="105000"/>
              </a:lnSpc>
              <a:spcAft>
                <a:spcPts val="600"/>
              </a:spcAft>
            </a:pPr>
            <a:r>
              <a:rPr sz="4000" b="1">
                <a:solidFill>
                  <a:srgbClr val="FFFFFF"/>
                </a:solidFill>
                <a:latin typeface="Calibri"/>
              </a:rPr>
              <a:t>to forecasts agencies can act on.</a:t>
            </a:r>
          </a:p>
        </p:txBody>
      </p:sp>
      <p:sp>
        <p:nvSpPr>
          <p:cNvPr id="5" name="TextBox 4"/>
          <p:cNvSpPr txBox="1"/>
          <p:nvPr/>
        </p:nvSpPr>
        <p:spPr>
          <a:xfrm>
            <a:off x="822960" y="4389120"/>
            <a:ext cx="10607040" cy="1188720"/>
          </a:xfrm>
          <a:prstGeom prst="rect">
            <a:avLst/>
          </a:prstGeom>
          <a:noFill/>
        </p:spPr>
        <p:txBody>
          <a:bodyPr wrap="square" anchor="t">
            <a:spAutoFit/>
          </a:bodyPr>
          <a:lstStyle/>
          <a:p>
            <a:pPr algn="l">
              <a:lnSpc>
                <a:spcPct val="120000"/>
              </a:lnSpc>
              <a:spcAft>
                <a:spcPts val="600"/>
              </a:spcAft>
            </a:pPr>
            <a:r>
              <a:rPr sz="2200" b="1">
                <a:solidFill>
                  <a:srgbClr val="FF6A13"/>
                </a:solidFill>
                <a:latin typeface="Calibri"/>
              </a:rPr>
              <a:t>Probabilistic. Explainable. Offline. Reproducible.</a:t>
            </a:r>
          </a:p>
          <a:p>
            <a:pPr algn="l">
              <a:lnSpc>
                <a:spcPct val="120000"/>
              </a:lnSpc>
              <a:spcAft>
                <a:spcPts val="600"/>
              </a:spcAft>
            </a:pPr>
            <a:r>
              <a:rPr sz="1800" b="0">
                <a:solidFill>
                  <a:srgbClr val="CBD5E1"/>
                </a:solidFill>
                <a:latin typeface="Calibri"/>
              </a:rPr>
              <a:t>One command. Four honest answers every agency needs.</a:t>
            </a:r>
          </a:p>
        </p:txBody>
      </p:sp>
      <p:sp>
        <p:nvSpPr>
          <p:cNvPr id="6" name="TextBox 5"/>
          <p:cNvSpPr txBox="1"/>
          <p:nvPr/>
        </p:nvSpPr>
        <p:spPr>
          <a:xfrm>
            <a:off x="822960" y="5760720"/>
            <a:ext cx="10607040" cy="822960"/>
          </a:xfrm>
          <a:prstGeom prst="rect">
            <a:avLst/>
          </a:prstGeom>
          <a:noFill/>
        </p:spPr>
        <p:txBody>
          <a:bodyPr wrap="square" anchor="t">
            <a:spAutoFit/>
          </a:bodyPr>
          <a:lstStyle/>
          <a:p>
            <a:pPr algn="l">
              <a:lnSpc>
                <a:spcPct val="105000"/>
              </a:lnSpc>
              <a:spcAft>
                <a:spcPts val="600"/>
              </a:spcAft>
            </a:pPr>
            <a:r>
              <a:rPr sz="2400" b="1">
                <a:solidFill>
                  <a:srgbClr val="FFFFFF"/>
                </a:solidFill>
                <a:latin typeface="Calibri"/>
              </a:rPr>
              <a:t>Thank you.  Questions?</a:t>
            </a:r>
          </a:p>
          <a:p>
            <a:pPr algn="l">
              <a:lnSpc>
                <a:spcPct val="105000"/>
              </a:lnSpc>
              <a:spcAft>
                <a:spcPts val="600"/>
              </a:spcAft>
            </a:pPr>
            <a:r>
              <a:rPr sz="1300" b="0">
                <a:solidFill>
                  <a:srgbClr val="64748B"/>
                </a:solidFill>
                <a:latin typeface="Calibri"/>
              </a:rPr>
              <a:t>Natabar Pradhan  •  IIT Kharagpur  •  github.com/Programver/probabilistic-forecasting-model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